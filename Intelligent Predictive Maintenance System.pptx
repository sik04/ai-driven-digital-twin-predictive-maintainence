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6858000" cx="12192000"/>
  <p:notesSz cx="6858000" cy="9144000"/>
  <p:embeddedFontLst>
    <p:embeddedFont>
      <p:font typeface="Inter SemiBold"/>
      <p:regular r:id="rId42"/>
      <p:bold r:id="rId43"/>
      <p:italic r:id="rId44"/>
      <p:boldItalic r:id="rId45"/>
    </p:embeddedFont>
    <p:embeddedFont>
      <p:font typeface="Inter"/>
      <p:regular r:id="rId46"/>
      <p:bold r:id="rId47"/>
      <p:italic r:id="rId48"/>
      <p:boldItalic r:id="rId49"/>
    </p:embeddedFont>
    <p:embeddedFont>
      <p:font typeface="Inter Medium"/>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9C5976-7210-444F-B886-9E39473210ED}">
  <a:tblStyle styleId="{6F9C5976-7210-444F-B886-9E39473210ED}"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InterSemiBold-regular.fntdata"/><Relationship Id="rId41" Type="http://schemas.openxmlformats.org/officeDocument/2006/relationships/slide" Target="slides/slide35.xml"/><Relationship Id="rId44" Type="http://schemas.openxmlformats.org/officeDocument/2006/relationships/font" Target="fonts/InterSemiBold-italic.fntdata"/><Relationship Id="rId43" Type="http://schemas.openxmlformats.org/officeDocument/2006/relationships/font" Target="fonts/InterSemiBold-bold.fntdata"/><Relationship Id="rId46" Type="http://schemas.openxmlformats.org/officeDocument/2006/relationships/font" Target="fonts/Inter-regular.fntdata"/><Relationship Id="rId45" Type="http://schemas.openxmlformats.org/officeDocument/2006/relationships/font" Target="fonts/Inter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Inter-italic.fntdata"/><Relationship Id="rId47" Type="http://schemas.openxmlformats.org/officeDocument/2006/relationships/font" Target="fonts/Inter-bold.fntdata"/><Relationship Id="rId49" Type="http://schemas.openxmlformats.org/officeDocument/2006/relationships/font" Target="fonts/Inter-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InterMedium-bold.fntdata"/><Relationship Id="rId50" Type="http://schemas.openxmlformats.org/officeDocument/2006/relationships/font" Target="fonts/InterMedium-regular.fntdata"/><Relationship Id="rId53" Type="http://schemas.openxmlformats.org/officeDocument/2006/relationships/font" Target="fonts/InterMedium-boldItalic.fntdata"/><Relationship Id="rId52" Type="http://schemas.openxmlformats.org/officeDocument/2006/relationships/font" Target="fonts/InterMedium-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12.png"/><Relationship Id="rId7"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30.png"/><Relationship Id="rId6" Type="http://schemas.openxmlformats.org/officeDocument/2006/relationships/image" Target="../media/image17.png"/><Relationship Id="rId7"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6.png"/><Relationship Id="rId6"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24.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21.png"/><Relationship Id="rId8" Type="http://schemas.openxmlformats.org/officeDocument/2006/relationships/image" Target="../media/image3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3.png"/><Relationship Id="rId5" Type="http://schemas.openxmlformats.org/officeDocument/2006/relationships/image" Target="../media/image5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6.png"/><Relationship Id="rId9" Type="http://schemas.openxmlformats.org/officeDocument/2006/relationships/image" Target="../media/image31.png"/><Relationship Id="rId5" Type="http://schemas.openxmlformats.org/officeDocument/2006/relationships/image" Target="../media/image28.png"/><Relationship Id="rId6" Type="http://schemas.openxmlformats.org/officeDocument/2006/relationships/image" Target="../media/image27.png"/><Relationship Id="rId7" Type="http://schemas.openxmlformats.org/officeDocument/2006/relationships/image" Target="../media/image29.png"/><Relationship Id="rId8"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30.png"/><Relationship Id="rId6" Type="http://schemas.openxmlformats.org/officeDocument/2006/relationships/image" Target="../media/image50.png"/><Relationship Id="rId7"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40.png"/><Relationship Id="rId6" Type="http://schemas.openxmlformats.org/officeDocument/2006/relationships/image" Target="../media/image36.png"/><Relationship Id="rId7"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3.png"/><Relationship Id="rId5" Type="http://schemas.openxmlformats.org/officeDocument/2006/relationships/image" Target="../media/image4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43.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35.png"/><Relationship Id="rId8"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30.png"/><Relationship Id="rId6" Type="http://schemas.openxmlformats.org/officeDocument/2006/relationships/image" Target="../media/image47.png"/><Relationship Id="rId7"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58.png"/><Relationship Id="rId5" Type="http://schemas.openxmlformats.org/officeDocument/2006/relationships/image" Target="../media/image16.png"/><Relationship Id="rId6" Type="http://schemas.openxmlformats.org/officeDocument/2006/relationships/image" Target="../media/image4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46.png"/><Relationship Id="rId5" Type="http://schemas.openxmlformats.org/officeDocument/2006/relationships/image" Target="../media/image8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62.png"/><Relationship Id="rId5" Type="http://schemas.openxmlformats.org/officeDocument/2006/relationships/image" Target="../media/image80.jpg"/><Relationship Id="rId6" Type="http://schemas.openxmlformats.org/officeDocument/2006/relationships/image" Target="../media/image77.png"/><Relationship Id="rId7" Type="http://schemas.openxmlformats.org/officeDocument/2006/relationships/image" Target="../media/image51.png"/><Relationship Id="rId8" Type="http://schemas.openxmlformats.org/officeDocument/2006/relationships/image" Target="../media/image5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81.png"/><Relationship Id="rId5" Type="http://schemas.openxmlformats.org/officeDocument/2006/relationships/image" Target="../media/image84.jpg"/><Relationship Id="rId6" Type="http://schemas.openxmlformats.org/officeDocument/2006/relationships/image" Target="../media/image8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59.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53.png"/><Relationship Id="rId8" Type="http://schemas.openxmlformats.org/officeDocument/2006/relationships/image" Target="../media/image5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57.png"/><Relationship Id="rId5" Type="http://schemas.openxmlformats.org/officeDocument/2006/relationships/image" Target="../media/image56.png"/><Relationship Id="rId6" Type="http://schemas.openxmlformats.org/officeDocument/2006/relationships/image" Target="../media/image60.png"/><Relationship Id="rId7" Type="http://schemas.openxmlformats.org/officeDocument/2006/relationships/image" Target="../media/image6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61.png"/><Relationship Id="rId9" Type="http://schemas.openxmlformats.org/officeDocument/2006/relationships/image" Target="../media/image67.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76.png"/><Relationship Id="rId8" Type="http://schemas.openxmlformats.org/officeDocument/2006/relationships/image" Target="../media/image7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70.png"/><Relationship Id="rId9" Type="http://schemas.openxmlformats.org/officeDocument/2006/relationships/image" Target="../media/image69.png"/><Relationship Id="rId5" Type="http://schemas.openxmlformats.org/officeDocument/2006/relationships/image" Target="../media/image66.png"/><Relationship Id="rId6" Type="http://schemas.openxmlformats.org/officeDocument/2006/relationships/image" Target="../media/image68.png"/><Relationship Id="rId7" Type="http://schemas.openxmlformats.org/officeDocument/2006/relationships/image" Target="../media/image78.png"/><Relationship Id="rId8" Type="http://schemas.openxmlformats.org/officeDocument/2006/relationships/image" Target="../media/image7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79.png"/><Relationship Id="rId5" Type="http://schemas.openxmlformats.org/officeDocument/2006/relationships/image" Target="../media/image72.png"/><Relationship Id="rId6" Type="http://schemas.openxmlformats.org/officeDocument/2006/relationships/image" Target="../media/image74.png"/><Relationship Id="rId7"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4019550" y="2811660"/>
            <a:ext cx="4152900" cy="819150"/>
          </a:xfrm>
          <a:prstGeom prst="rect">
            <a:avLst/>
          </a:prstGeom>
          <a:noFill/>
          <a:ln>
            <a:noFill/>
          </a:ln>
        </p:spPr>
      </p:pic>
      <p:sp>
        <p:nvSpPr>
          <p:cNvPr id="86" name="Google Shape;86;p13"/>
          <p:cNvSpPr txBox="1"/>
          <p:nvPr/>
        </p:nvSpPr>
        <p:spPr>
          <a:xfrm>
            <a:off x="295275" y="571500"/>
            <a:ext cx="11601450" cy="7542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5400" u="none" cap="none" strike="noStrike">
                <a:solidFill>
                  <a:srgbClr val="F5F5F7"/>
                </a:solidFill>
                <a:latin typeface="Inter SemiBold"/>
                <a:ea typeface="Inter SemiBold"/>
                <a:cs typeface="Inter SemiBold"/>
                <a:sym typeface="Inter SemiBold"/>
              </a:rPr>
              <a:t>Intelligent Predictive Maintenance</a:t>
            </a:r>
            <a:endParaRPr/>
          </a:p>
        </p:txBody>
      </p:sp>
      <p:sp>
        <p:nvSpPr>
          <p:cNvPr id="87" name="Google Shape;87;p13"/>
          <p:cNvSpPr txBox="1"/>
          <p:nvPr/>
        </p:nvSpPr>
        <p:spPr>
          <a:xfrm>
            <a:off x="571500" y="1516260"/>
            <a:ext cx="11049000" cy="342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86868B"/>
                </a:solidFill>
                <a:latin typeface="Inter"/>
                <a:ea typeface="Inter"/>
                <a:cs typeface="Inter"/>
                <a:sym typeface="Inter"/>
              </a:rPr>
              <a:t>Powered by AI and Digital Twin Technology</a:t>
            </a:r>
            <a:endParaRPr/>
          </a:p>
        </p:txBody>
      </p:sp>
      <p:sp>
        <p:nvSpPr>
          <p:cNvPr id="88" name="Google Shape;88;p13"/>
          <p:cNvSpPr txBox="1"/>
          <p:nvPr/>
        </p:nvSpPr>
        <p:spPr>
          <a:xfrm>
            <a:off x="4019550" y="3106935"/>
            <a:ext cx="4152900" cy="2857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F5F5F7"/>
                </a:solidFill>
                <a:latin typeface="Inter"/>
                <a:ea typeface="Inter"/>
                <a:cs typeface="Inter"/>
                <a:sym typeface="Inter"/>
              </a:rPr>
              <a:t>B.Tech Final Year Project</a:t>
            </a:r>
            <a:endParaRPr/>
          </a:p>
        </p:txBody>
      </p:sp>
      <p:sp>
        <p:nvSpPr>
          <p:cNvPr id="89" name="Google Shape;89;p13"/>
          <p:cNvSpPr txBox="1"/>
          <p:nvPr/>
        </p:nvSpPr>
        <p:spPr>
          <a:xfrm>
            <a:off x="4019550" y="3440310"/>
            <a:ext cx="4152900" cy="19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86868B"/>
                </a:solidFill>
                <a:latin typeface="Inter"/>
                <a:ea typeface="Inter"/>
                <a:cs typeface="Inter"/>
                <a:sym typeface="Inter"/>
              </a:rPr>
              <a:t>Department of Engineering | Supervised by [Guide Name]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3" name="Shape 93"/>
        <p:cNvGrpSpPr/>
        <p:nvPr/>
      </p:nvGrpSpPr>
      <p:grpSpPr>
        <a:xfrm>
          <a:off x="0" y="0"/>
          <a:ext cx="0" cy="0"/>
          <a:chOff x="0" y="0"/>
          <a:chExt cx="0" cy="0"/>
        </a:xfrm>
      </p:grpSpPr>
      <p:pic>
        <p:nvPicPr>
          <p:cNvPr descr="image.png" id="94" name="Google Shape;94;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5" name="Google Shape;95;p14"/>
          <p:cNvSpPr/>
          <p:nvPr/>
        </p:nvSpPr>
        <p:spPr>
          <a:xfrm>
            <a:off x="571500" y="2266950"/>
            <a:ext cx="11049000" cy="190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14"/>
          <p:cNvSpPr txBox="1"/>
          <p:nvPr/>
        </p:nvSpPr>
        <p:spPr>
          <a:xfrm>
            <a:off x="527305" y="2562225"/>
            <a:ext cx="1856169"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50" u="none" cap="none" strike="noStrike">
                <a:solidFill>
                  <a:srgbClr val="F5F5F7"/>
                </a:solidFill>
                <a:latin typeface="Inter SemiBold"/>
                <a:ea typeface="Inter SemiBold"/>
                <a:cs typeface="Inter SemiBold"/>
                <a:sym typeface="Inter SemiBold"/>
              </a:rPr>
              <a:t>Introduction</a:t>
            </a:r>
            <a:endParaRPr/>
          </a:p>
        </p:txBody>
      </p:sp>
      <p:sp>
        <p:nvSpPr>
          <p:cNvPr id="97" name="Google Shape;97;p14"/>
          <p:cNvSpPr txBox="1"/>
          <p:nvPr/>
        </p:nvSpPr>
        <p:spPr>
          <a:xfrm>
            <a:off x="571500" y="2838450"/>
            <a:ext cx="1767780" cy="2000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86868B"/>
                </a:solidFill>
                <a:latin typeface="Inter"/>
                <a:ea typeface="Inter"/>
                <a:cs typeface="Inter"/>
                <a:sym typeface="Inter"/>
              </a:rPr>
              <a:t>Problem &amp; Concepts</a:t>
            </a:r>
            <a:endParaRPr/>
          </a:p>
        </p:txBody>
      </p:sp>
      <p:sp>
        <p:nvSpPr>
          <p:cNvPr id="98" name="Google Shape;98;p14"/>
          <p:cNvSpPr txBox="1"/>
          <p:nvPr/>
        </p:nvSpPr>
        <p:spPr>
          <a:xfrm>
            <a:off x="2383489" y="1371600"/>
            <a:ext cx="1856169"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50" u="none" cap="none" strike="noStrike">
                <a:solidFill>
                  <a:srgbClr val="F5F5F7"/>
                </a:solidFill>
                <a:latin typeface="Inter SemiBold"/>
                <a:ea typeface="Inter SemiBold"/>
                <a:cs typeface="Inter SemiBold"/>
                <a:sym typeface="Inter SemiBold"/>
              </a:rPr>
              <a:t>Digital Twin</a:t>
            </a:r>
            <a:endParaRPr/>
          </a:p>
        </p:txBody>
      </p:sp>
      <p:sp>
        <p:nvSpPr>
          <p:cNvPr id="99" name="Google Shape;99;p14"/>
          <p:cNvSpPr txBox="1"/>
          <p:nvPr/>
        </p:nvSpPr>
        <p:spPr>
          <a:xfrm>
            <a:off x="2427684" y="1647825"/>
            <a:ext cx="1767780" cy="2000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86868B"/>
                </a:solidFill>
                <a:latin typeface="Inter"/>
                <a:ea typeface="Inter"/>
                <a:cs typeface="Inter"/>
                <a:sym typeface="Inter"/>
              </a:rPr>
              <a:t>Core Technology</a:t>
            </a:r>
            <a:endParaRPr/>
          </a:p>
        </p:txBody>
      </p:sp>
      <p:sp>
        <p:nvSpPr>
          <p:cNvPr id="100" name="Google Shape;100;p14"/>
          <p:cNvSpPr txBox="1"/>
          <p:nvPr/>
        </p:nvSpPr>
        <p:spPr>
          <a:xfrm>
            <a:off x="4239674" y="2562225"/>
            <a:ext cx="1856169"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50" u="none" cap="none" strike="noStrike">
                <a:solidFill>
                  <a:srgbClr val="F5F5F7"/>
                </a:solidFill>
                <a:latin typeface="Inter SemiBold"/>
                <a:ea typeface="Inter SemiBold"/>
                <a:cs typeface="Inter SemiBold"/>
                <a:sym typeface="Inter SemiBold"/>
              </a:rPr>
              <a:t>Architecture</a:t>
            </a:r>
            <a:endParaRPr/>
          </a:p>
        </p:txBody>
      </p:sp>
      <p:sp>
        <p:nvSpPr>
          <p:cNvPr id="101" name="Google Shape;101;p14"/>
          <p:cNvSpPr txBox="1"/>
          <p:nvPr/>
        </p:nvSpPr>
        <p:spPr>
          <a:xfrm>
            <a:off x="4283868" y="2838450"/>
            <a:ext cx="1767780" cy="2000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86868B"/>
                </a:solidFill>
                <a:latin typeface="Inter"/>
                <a:ea typeface="Inter"/>
                <a:cs typeface="Inter"/>
                <a:sym typeface="Inter"/>
              </a:rPr>
              <a:t>System Design</a:t>
            </a:r>
            <a:endParaRPr/>
          </a:p>
        </p:txBody>
      </p:sp>
      <p:sp>
        <p:nvSpPr>
          <p:cNvPr id="102" name="Google Shape;102;p14"/>
          <p:cNvSpPr txBox="1"/>
          <p:nvPr/>
        </p:nvSpPr>
        <p:spPr>
          <a:xfrm>
            <a:off x="6095858" y="1371600"/>
            <a:ext cx="1856169"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50" u="none" cap="none" strike="noStrike">
                <a:solidFill>
                  <a:srgbClr val="F5F5F7"/>
                </a:solidFill>
                <a:latin typeface="Inter SemiBold"/>
                <a:ea typeface="Inter SemiBold"/>
                <a:cs typeface="Inter SemiBold"/>
                <a:sym typeface="Inter SemiBold"/>
              </a:rPr>
              <a:t>ML Pipeline</a:t>
            </a:r>
            <a:endParaRPr/>
          </a:p>
        </p:txBody>
      </p:sp>
      <p:sp>
        <p:nvSpPr>
          <p:cNvPr id="103" name="Google Shape;103;p14"/>
          <p:cNvSpPr txBox="1"/>
          <p:nvPr/>
        </p:nvSpPr>
        <p:spPr>
          <a:xfrm>
            <a:off x="6140053" y="1647825"/>
            <a:ext cx="1767780" cy="2000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86868B"/>
                </a:solidFill>
                <a:latin typeface="Inter"/>
                <a:ea typeface="Inter"/>
                <a:cs typeface="Inter"/>
                <a:sym typeface="Inter"/>
              </a:rPr>
              <a:t>AI Integration</a:t>
            </a:r>
            <a:endParaRPr/>
          </a:p>
        </p:txBody>
      </p:sp>
      <p:sp>
        <p:nvSpPr>
          <p:cNvPr id="104" name="Google Shape;104;p14"/>
          <p:cNvSpPr txBox="1"/>
          <p:nvPr/>
        </p:nvSpPr>
        <p:spPr>
          <a:xfrm>
            <a:off x="7952042" y="2562225"/>
            <a:ext cx="1856169"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50" u="none" cap="none" strike="noStrike">
                <a:solidFill>
                  <a:srgbClr val="F5F5F7"/>
                </a:solidFill>
                <a:latin typeface="Inter SemiBold"/>
                <a:ea typeface="Inter SemiBold"/>
                <a:cs typeface="Inter SemiBold"/>
                <a:sym typeface="Inter SemiBold"/>
              </a:rPr>
              <a:t>Dashboard</a:t>
            </a:r>
            <a:endParaRPr/>
          </a:p>
        </p:txBody>
      </p:sp>
      <p:sp>
        <p:nvSpPr>
          <p:cNvPr id="105" name="Google Shape;105;p14"/>
          <p:cNvSpPr txBox="1"/>
          <p:nvPr/>
        </p:nvSpPr>
        <p:spPr>
          <a:xfrm>
            <a:off x="7996237" y="2838450"/>
            <a:ext cx="1767780" cy="2000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86868B"/>
                </a:solidFill>
                <a:latin typeface="Inter"/>
                <a:ea typeface="Inter"/>
                <a:cs typeface="Inter"/>
                <a:sym typeface="Inter"/>
              </a:rPr>
              <a:t>Real-time UI</a:t>
            </a:r>
            <a:endParaRPr/>
          </a:p>
        </p:txBody>
      </p:sp>
      <p:sp>
        <p:nvSpPr>
          <p:cNvPr id="106" name="Google Shape;106;p14"/>
          <p:cNvSpPr txBox="1"/>
          <p:nvPr/>
        </p:nvSpPr>
        <p:spPr>
          <a:xfrm>
            <a:off x="9808227" y="1371600"/>
            <a:ext cx="1856169"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50" u="none" cap="none" strike="noStrike">
                <a:solidFill>
                  <a:srgbClr val="F5F5F7"/>
                </a:solidFill>
                <a:latin typeface="Inter SemiBold"/>
                <a:ea typeface="Inter SemiBold"/>
                <a:cs typeface="Inter SemiBold"/>
                <a:sym typeface="Inter SemiBold"/>
              </a:rPr>
              <a:t>Results</a:t>
            </a:r>
            <a:endParaRPr/>
          </a:p>
        </p:txBody>
      </p:sp>
      <p:sp>
        <p:nvSpPr>
          <p:cNvPr id="107" name="Google Shape;107;p14"/>
          <p:cNvSpPr txBox="1"/>
          <p:nvPr/>
        </p:nvSpPr>
        <p:spPr>
          <a:xfrm>
            <a:off x="9852421" y="1647825"/>
            <a:ext cx="1767780" cy="2000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86868B"/>
                </a:solidFill>
                <a:latin typeface="Inter"/>
                <a:ea typeface="Inter"/>
                <a:cs typeface="Inter"/>
                <a:sym typeface="Inter"/>
              </a:rPr>
              <a:t>Performance Metrics</a:t>
            </a:r>
            <a:endParaRPr/>
          </a:p>
        </p:txBody>
      </p:sp>
      <p:sp>
        <p:nvSpPr>
          <p:cNvPr id="108" name="Google Shape;108;p14"/>
          <p:cNvSpPr/>
          <p:nvPr/>
        </p:nvSpPr>
        <p:spPr>
          <a:xfrm>
            <a:off x="1379190" y="2200275"/>
            <a:ext cx="152400" cy="152400"/>
          </a:xfrm>
          <a:prstGeom prst="roundRect">
            <a:avLst>
              <a:gd fmla="val 50000" name="adj"/>
            </a:avLst>
          </a:prstGeom>
          <a:solidFill>
            <a:srgbClr val="000000"/>
          </a:solidFill>
          <a:ln cap="flat" cmpd="sng" w="28575">
            <a:solidFill>
              <a:srgbClr val="0A84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 name="Google Shape;109;p14"/>
          <p:cNvSpPr/>
          <p:nvPr/>
        </p:nvSpPr>
        <p:spPr>
          <a:xfrm>
            <a:off x="3235374" y="2200275"/>
            <a:ext cx="152400" cy="152400"/>
          </a:xfrm>
          <a:prstGeom prst="roundRect">
            <a:avLst>
              <a:gd fmla="val 50000" name="adj"/>
            </a:avLst>
          </a:prstGeom>
          <a:solidFill>
            <a:srgbClr val="000000"/>
          </a:solidFill>
          <a:ln cap="flat" cmpd="sng" w="28575">
            <a:solidFill>
              <a:srgbClr val="0A84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14"/>
          <p:cNvSpPr/>
          <p:nvPr/>
        </p:nvSpPr>
        <p:spPr>
          <a:xfrm>
            <a:off x="5091558" y="2200275"/>
            <a:ext cx="152400" cy="152400"/>
          </a:xfrm>
          <a:prstGeom prst="roundRect">
            <a:avLst>
              <a:gd fmla="val 50000" name="adj"/>
            </a:avLst>
          </a:prstGeom>
          <a:solidFill>
            <a:srgbClr val="000000"/>
          </a:solidFill>
          <a:ln cap="flat" cmpd="sng" w="28575">
            <a:solidFill>
              <a:srgbClr val="0A84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14"/>
          <p:cNvSpPr/>
          <p:nvPr/>
        </p:nvSpPr>
        <p:spPr>
          <a:xfrm>
            <a:off x="6947743" y="2200275"/>
            <a:ext cx="152400" cy="152400"/>
          </a:xfrm>
          <a:prstGeom prst="roundRect">
            <a:avLst>
              <a:gd fmla="val 50000" name="adj"/>
            </a:avLst>
          </a:prstGeom>
          <a:solidFill>
            <a:srgbClr val="000000"/>
          </a:solidFill>
          <a:ln cap="flat" cmpd="sng" w="28575">
            <a:solidFill>
              <a:srgbClr val="0A84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14"/>
          <p:cNvSpPr/>
          <p:nvPr/>
        </p:nvSpPr>
        <p:spPr>
          <a:xfrm>
            <a:off x="8803927" y="2200275"/>
            <a:ext cx="152400" cy="152400"/>
          </a:xfrm>
          <a:prstGeom prst="roundRect">
            <a:avLst>
              <a:gd fmla="val 50000" name="adj"/>
            </a:avLst>
          </a:prstGeom>
          <a:solidFill>
            <a:srgbClr val="000000"/>
          </a:solidFill>
          <a:ln cap="flat" cmpd="sng" w="28575">
            <a:solidFill>
              <a:srgbClr val="0A84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14"/>
          <p:cNvSpPr/>
          <p:nvPr/>
        </p:nvSpPr>
        <p:spPr>
          <a:xfrm>
            <a:off x="10660112" y="2200275"/>
            <a:ext cx="152400" cy="152400"/>
          </a:xfrm>
          <a:prstGeom prst="roundRect">
            <a:avLst>
              <a:gd fmla="val 50000" name="adj"/>
            </a:avLst>
          </a:prstGeom>
          <a:solidFill>
            <a:srgbClr val="000000"/>
          </a:solidFill>
          <a:ln cap="flat" cmpd="sng" w="28575">
            <a:solidFill>
              <a:srgbClr val="0A84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4"/>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Project Agenda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8" name="Shape 118"/>
        <p:cNvGrpSpPr/>
        <p:nvPr/>
      </p:nvGrpSpPr>
      <p:grpSpPr>
        <a:xfrm>
          <a:off x="0" y="0"/>
          <a:ext cx="0" cy="0"/>
          <a:chOff x="0" y="0"/>
          <a:chExt cx="0" cy="0"/>
        </a:xfrm>
      </p:grpSpPr>
      <p:pic>
        <p:nvPicPr>
          <p:cNvPr descr="image.png" id="119" name="Google Shape;119;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0" name="Google Shape;120;p15"/>
          <p:cNvPicPr preferRelativeResize="0"/>
          <p:nvPr/>
        </p:nvPicPr>
        <p:blipFill rotWithShape="1">
          <a:blip r:embed="rId4">
            <a:alphaModFix/>
          </a:blip>
          <a:srcRect b="0" l="0" r="0" t="0"/>
          <a:stretch/>
        </p:blipFill>
        <p:spPr>
          <a:xfrm>
            <a:off x="571500" y="1514475"/>
            <a:ext cx="3492549" cy="3095625"/>
          </a:xfrm>
          <a:prstGeom prst="rect">
            <a:avLst/>
          </a:prstGeom>
          <a:noFill/>
          <a:ln>
            <a:noFill/>
          </a:ln>
        </p:spPr>
      </p:pic>
      <p:pic>
        <p:nvPicPr>
          <p:cNvPr descr="image.png" id="121" name="Google Shape;121;p15"/>
          <p:cNvPicPr preferRelativeResize="0"/>
          <p:nvPr/>
        </p:nvPicPr>
        <p:blipFill rotWithShape="1">
          <a:blip r:embed="rId5">
            <a:alphaModFix/>
          </a:blip>
          <a:srcRect b="0" l="0" r="0" t="0"/>
          <a:stretch/>
        </p:blipFill>
        <p:spPr>
          <a:xfrm>
            <a:off x="4349799" y="1514475"/>
            <a:ext cx="3492549" cy="3095625"/>
          </a:xfrm>
          <a:prstGeom prst="rect">
            <a:avLst/>
          </a:prstGeom>
          <a:noFill/>
          <a:ln>
            <a:noFill/>
          </a:ln>
        </p:spPr>
      </p:pic>
      <p:pic>
        <p:nvPicPr>
          <p:cNvPr descr="image.png" id="122" name="Google Shape;122;p15"/>
          <p:cNvPicPr preferRelativeResize="0"/>
          <p:nvPr/>
        </p:nvPicPr>
        <p:blipFill rotWithShape="1">
          <a:blip r:embed="rId6">
            <a:alphaModFix/>
          </a:blip>
          <a:srcRect b="0" l="0" r="0" t="0"/>
          <a:stretch/>
        </p:blipFill>
        <p:spPr>
          <a:xfrm>
            <a:off x="8128099" y="1514475"/>
            <a:ext cx="3492549" cy="3095625"/>
          </a:xfrm>
          <a:prstGeom prst="rect">
            <a:avLst/>
          </a:prstGeom>
          <a:noFill/>
          <a:ln>
            <a:noFill/>
          </a:ln>
        </p:spPr>
      </p:pic>
      <p:sp>
        <p:nvSpPr>
          <p:cNvPr id="123" name="Google Shape;123;p15"/>
          <p:cNvSpPr txBox="1"/>
          <p:nvPr/>
        </p:nvSpPr>
        <p:spPr>
          <a:xfrm>
            <a:off x="866775"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Industry 4.0</a:t>
            </a:r>
            <a:endParaRPr/>
          </a:p>
        </p:txBody>
      </p:sp>
      <p:sp>
        <p:nvSpPr>
          <p:cNvPr id="124" name="Google Shape;124;p15"/>
          <p:cNvSpPr txBox="1"/>
          <p:nvPr/>
        </p:nvSpPr>
        <p:spPr>
          <a:xfrm>
            <a:off x="866775" y="2981325"/>
            <a:ext cx="2901999"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The Fourth Industrial Revolution integrates smart automation, cloud computing, and cognitive systems to create highly efficient, interconnected manufacturing environments.</a:t>
            </a:r>
            <a:endParaRPr/>
          </a:p>
        </p:txBody>
      </p:sp>
      <p:sp>
        <p:nvSpPr>
          <p:cNvPr id="125" name="Google Shape;125;p15"/>
          <p:cNvSpPr txBox="1"/>
          <p:nvPr/>
        </p:nvSpPr>
        <p:spPr>
          <a:xfrm>
            <a:off x="4645074"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Digital Twin</a:t>
            </a:r>
            <a:endParaRPr/>
          </a:p>
        </p:txBody>
      </p:sp>
      <p:sp>
        <p:nvSpPr>
          <p:cNvPr id="126" name="Google Shape;126;p15"/>
          <p:cNvSpPr txBox="1"/>
          <p:nvPr/>
        </p:nvSpPr>
        <p:spPr>
          <a:xfrm>
            <a:off x="4645074" y="2981325"/>
            <a:ext cx="2901999"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A dynamic, virtual representation of a physical asset. It uses real-time IoT data to mirror the state, performance, and behavior of industrial machinery precisely.</a:t>
            </a:r>
            <a:endParaRPr/>
          </a:p>
        </p:txBody>
      </p:sp>
      <p:sp>
        <p:nvSpPr>
          <p:cNvPr id="127" name="Google Shape;127;p15"/>
          <p:cNvSpPr txBox="1"/>
          <p:nvPr/>
        </p:nvSpPr>
        <p:spPr>
          <a:xfrm>
            <a:off x="8423374"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Artificial Intelligence</a:t>
            </a:r>
            <a:endParaRPr/>
          </a:p>
        </p:txBody>
      </p:sp>
      <p:sp>
        <p:nvSpPr>
          <p:cNvPr id="128" name="Google Shape;128;p15"/>
          <p:cNvSpPr txBox="1"/>
          <p:nvPr/>
        </p:nvSpPr>
        <p:spPr>
          <a:xfrm>
            <a:off x="8423374" y="2981325"/>
            <a:ext cx="2901999"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Machine learning algorithms analyze massive streams of historical and real-time sensor data to detect anomalies, identify patterns, and accurately predict future equipment failures.</a:t>
            </a:r>
            <a:endParaRPr/>
          </a:p>
        </p:txBody>
      </p:sp>
      <p:pic>
        <p:nvPicPr>
          <p:cNvPr descr="image.png" id="129" name="Google Shape;129;p15"/>
          <p:cNvPicPr preferRelativeResize="0"/>
          <p:nvPr/>
        </p:nvPicPr>
        <p:blipFill rotWithShape="1">
          <a:blip r:embed="rId7">
            <a:alphaModFix/>
          </a:blip>
          <a:srcRect b="0" l="0" r="0" t="0"/>
          <a:stretch/>
        </p:blipFill>
        <p:spPr>
          <a:xfrm>
            <a:off x="866775" y="1895475"/>
            <a:ext cx="428625" cy="381000"/>
          </a:xfrm>
          <a:prstGeom prst="rect">
            <a:avLst/>
          </a:prstGeom>
          <a:noFill/>
          <a:ln>
            <a:noFill/>
          </a:ln>
        </p:spPr>
      </p:pic>
      <p:pic>
        <p:nvPicPr>
          <p:cNvPr descr="image.png" id="130" name="Google Shape;130;p15"/>
          <p:cNvPicPr preferRelativeResize="0"/>
          <p:nvPr/>
        </p:nvPicPr>
        <p:blipFill rotWithShape="1">
          <a:blip r:embed="rId8">
            <a:alphaModFix/>
          </a:blip>
          <a:srcRect b="0" l="0" r="0" t="0"/>
          <a:stretch/>
        </p:blipFill>
        <p:spPr>
          <a:xfrm>
            <a:off x="4645074" y="1895475"/>
            <a:ext cx="476250" cy="381000"/>
          </a:xfrm>
          <a:prstGeom prst="rect">
            <a:avLst/>
          </a:prstGeom>
          <a:noFill/>
          <a:ln>
            <a:noFill/>
          </a:ln>
        </p:spPr>
      </p:pic>
      <p:pic>
        <p:nvPicPr>
          <p:cNvPr descr="image.png" id="131" name="Google Shape;131;p15"/>
          <p:cNvPicPr preferRelativeResize="0"/>
          <p:nvPr/>
        </p:nvPicPr>
        <p:blipFill rotWithShape="1">
          <a:blip r:embed="rId9">
            <a:alphaModFix/>
          </a:blip>
          <a:srcRect b="0" l="0" r="0" t="0"/>
          <a:stretch/>
        </p:blipFill>
        <p:spPr>
          <a:xfrm>
            <a:off x="8423374" y="1895475"/>
            <a:ext cx="381000" cy="381000"/>
          </a:xfrm>
          <a:prstGeom prst="rect">
            <a:avLst/>
          </a:prstGeom>
          <a:noFill/>
          <a:ln>
            <a:noFill/>
          </a:ln>
        </p:spPr>
      </p:pic>
      <p:sp>
        <p:nvSpPr>
          <p:cNvPr id="132" name="Google Shape;132;p15"/>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Core Technologies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6" name="Shape 136"/>
        <p:cNvGrpSpPr/>
        <p:nvPr/>
      </p:nvGrpSpPr>
      <p:grpSpPr>
        <a:xfrm>
          <a:off x="0" y="0"/>
          <a:ext cx="0" cy="0"/>
          <a:chOff x="0" y="0"/>
          <a:chExt cx="0" cy="0"/>
        </a:xfrm>
      </p:grpSpPr>
      <p:pic>
        <p:nvPicPr>
          <p:cNvPr descr="image.png" id="137" name="Google Shape;137;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8" name="Google Shape;138;p16"/>
          <p:cNvPicPr preferRelativeResize="0"/>
          <p:nvPr/>
        </p:nvPicPr>
        <p:blipFill rotWithShape="1">
          <a:blip r:embed="rId4">
            <a:alphaModFix/>
          </a:blip>
          <a:srcRect b="0" l="0" r="0" t="0"/>
          <a:stretch/>
        </p:blipFill>
        <p:spPr>
          <a:xfrm>
            <a:off x="5991225" y="2071687"/>
            <a:ext cx="5629275" cy="3657600"/>
          </a:xfrm>
          <a:prstGeom prst="rect">
            <a:avLst/>
          </a:prstGeom>
          <a:noFill/>
          <a:ln>
            <a:noFill/>
          </a:ln>
        </p:spPr>
      </p:pic>
      <p:sp>
        <p:nvSpPr>
          <p:cNvPr id="139" name="Google Shape;139;p16"/>
          <p:cNvSpPr txBox="1"/>
          <p:nvPr/>
        </p:nvSpPr>
        <p:spPr>
          <a:xfrm>
            <a:off x="571500" y="3048000"/>
            <a:ext cx="5038725" cy="1333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0500" u="none" cap="none" strike="noStrike">
                <a:solidFill>
                  <a:srgbClr val="0A84FF"/>
                </a:solidFill>
                <a:latin typeface="Inter"/>
                <a:ea typeface="Inter"/>
                <a:cs typeface="Inter"/>
                <a:sym typeface="Inter"/>
              </a:rPr>
              <a:t>$260k</a:t>
            </a:r>
            <a:endParaRPr/>
          </a:p>
        </p:txBody>
      </p:sp>
      <p:sp>
        <p:nvSpPr>
          <p:cNvPr id="140" name="Google Shape;140;p16"/>
          <p:cNvSpPr txBox="1"/>
          <p:nvPr/>
        </p:nvSpPr>
        <p:spPr>
          <a:xfrm>
            <a:off x="571500" y="4476750"/>
            <a:ext cx="5038725"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F5F5F7"/>
                </a:solidFill>
                <a:latin typeface="Inter Medium"/>
                <a:ea typeface="Inter Medium"/>
                <a:cs typeface="Inter Medium"/>
                <a:sym typeface="Inter Medium"/>
              </a:rPr>
              <a:t>Average Cost per Hour</a:t>
            </a:r>
            <a:endParaRPr/>
          </a:p>
        </p:txBody>
      </p:sp>
      <p:sp>
        <p:nvSpPr>
          <p:cNvPr id="141" name="Google Shape;141;p16"/>
          <p:cNvSpPr txBox="1"/>
          <p:nvPr/>
        </p:nvSpPr>
        <p:spPr>
          <a:xfrm>
            <a:off x="6286500" y="2366962"/>
            <a:ext cx="5290661"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The Industrial Challenge</a:t>
            </a:r>
            <a:endParaRPr/>
          </a:p>
        </p:txBody>
      </p:sp>
      <p:sp>
        <p:nvSpPr>
          <p:cNvPr id="142" name="Google Shape;142;p16"/>
          <p:cNvSpPr txBox="1"/>
          <p:nvPr/>
        </p:nvSpPr>
        <p:spPr>
          <a:xfrm>
            <a:off x="6286500" y="2833687"/>
            <a:ext cx="503872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Unplanned equipment downtime is one of the most expensive problems in modern manufacturing. When critical machines fail unexpectedly, production halts entirely.</a:t>
            </a:r>
            <a:endParaRPr/>
          </a:p>
        </p:txBody>
      </p:sp>
      <p:sp>
        <p:nvSpPr>
          <p:cNvPr id="143" name="Google Shape;143;p16"/>
          <p:cNvSpPr txBox="1"/>
          <p:nvPr/>
        </p:nvSpPr>
        <p:spPr>
          <a:xfrm>
            <a:off x="6286500" y="3748087"/>
            <a:ext cx="5038725" cy="1543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According to Aberdeen Research (2024), industrial manufacturers lose an average of $260,000 for every hour of unplanned downtime. Furthermore, 80% of companies lack the capability to accurately calculate or predict these catastrophic failures, relying instead on outdated, reactive strategies.</a:t>
            </a:r>
            <a:endParaRPr/>
          </a:p>
        </p:txBody>
      </p:sp>
      <p:sp>
        <p:nvSpPr>
          <p:cNvPr id="144" name="Google Shape;144;p16"/>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The Cost of Downtime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8" name="Shape 148"/>
        <p:cNvGrpSpPr/>
        <p:nvPr/>
      </p:nvGrpSpPr>
      <p:grpSpPr>
        <a:xfrm>
          <a:off x="0" y="0"/>
          <a:ext cx="0" cy="0"/>
          <a:chOff x="0" y="0"/>
          <a:chExt cx="0" cy="0"/>
        </a:xfrm>
      </p:grpSpPr>
      <p:pic>
        <p:nvPicPr>
          <p:cNvPr descr="image.png" id="149" name="Google Shape;149;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0" name="Google Shape;150;p17"/>
          <p:cNvPicPr preferRelativeResize="0"/>
          <p:nvPr/>
        </p:nvPicPr>
        <p:blipFill rotWithShape="1">
          <a:blip r:embed="rId4">
            <a:alphaModFix/>
          </a:blip>
          <a:srcRect b="0" l="0" r="0" t="0"/>
          <a:stretch/>
        </p:blipFill>
        <p:spPr>
          <a:xfrm>
            <a:off x="571500" y="1514475"/>
            <a:ext cx="3492549" cy="3095625"/>
          </a:xfrm>
          <a:prstGeom prst="rect">
            <a:avLst/>
          </a:prstGeom>
          <a:noFill/>
          <a:ln>
            <a:noFill/>
          </a:ln>
        </p:spPr>
      </p:pic>
      <p:pic>
        <p:nvPicPr>
          <p:cNvPr descr="image.png" id="151" name="Google Shape;151;p17"/>
          <p:cNvPicPr preferRelativeResize="0"/>
          <p:nvPr/>
        </p:nvPicPr>
        <p:blipFill rotWithShape="1">
          <a:blip r:embed="rId5">
            <a:alphaModFix/>
          </a:blip>
          <a:srcRect b="0" l="0" r="0" t="0"/>
          <a:stretch/>
        </p:blipFill>
        <p:spPr>
          <a:xfrm>
            <a:off x="4349799" y="1514475"/>
            <a:ext cx="3492549" cy="3095625"/>
          </a:xfrm>
          <a:prstGeom prst="rect">
            <a:avLst/>
          </a:prstGeom>
          <a:noFill/>
          <a:ln>
            <a:noFill/>
          </a:ln>
        </p:spPr>
      </p:pic>
      <p:pic>
        <p:nvPicPr>
          <p:cNvPr descr="image.png" id="152" name="Google Shape;152;p17"/>
          <p:cNvPicPr preferRelativeResize="0"/>
          <p:nvPr/>
        </p:nvPicPr>
        <p:blipFill rotWithShape="1">
          <a:blip r:embed="rId6">
            <a:alphaModFix/>
          </a:blip>
          <a:srcRect b="0" l="0" r="0" t="0"/>
          <a:stretch/>
        </p:blipFill>
        <p:spPr>
          <a:xfrm>
            <a:off x="8128099" y="1514475"/>
            <a:ext cx="3492549" cy="3095625"/>
          </a:xfrm>
          <a:prstGeom prst="rect">
            <a:avLst/>
          </a:prstGeom>
          <a:noFill/>
          <a:ln>
            <a:noFill/>
          </a:ln>
        </p:spPr>
      </p:pic>
      <p:sp>
        <p:nvSpPr>
          <p:cNvPr id="153" name="Google Shape;153;p17"/>
          <p:cNvSpPr txBox="1"/>
          <p:nvPr/>
        </p:nvSpPr>
        <p:spPr>
          <a:xfrm>
            <a:off x="866775"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Predict Failures</a:t>
            </a:r>
            <a:endParaRPr/>
          </a:p>
        </p:txBody>
      </p:sp>
      <p:sp>
        <p:nvSpPr>
          <p:cNvPr id="154" name="Google Shape;154;p17"/>
          <p:cNvSpPr txBox="1"/>
          <p:nvPr/>
        </p:nvSpPr>
        <p:spPr>
          <a:xfrm>
            <a:off x="866775" y="2981325"/>
            <a:ext cx="2901999" cy="914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Develop a robust machine learning model capable of accurately predicting equipment failures before they physically manifest on the factory floor.</a:t>
            </a:r>
            <a:endParaRPr/>
          </a:p>
        </p:txBody>
      </p:sp>
      <p:sp>
        <p:nvSpPr>
          <p:cNvPr id="155" name="Google Shape;155;p17"/>
          <p:cNvSpPr txBox="1"/>
          <p:nvPr/>
        </p:nvSpPr>
        <p:spPr>
          <a:xfrm>
            <a:off x="4645074"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Digital Twin UI</a:t>
            </a:r>
            <a:endParaRPr/>
          </a:p>
        </p:txBody>
      </p:sp>
      <p:sp>
        <p:nvSpPr>
          <p:cNvPr id="156" name="Google Shape;156;p17"/>
          <p:cNvSpPr txBox="1"/>
          <p:nvPr/>
        </p:nvSpPr>
        <p:spPr>
          <a:xfrm>
            <a:off x="4645074" y="2981325"/>
            <a:ext cx="2901999"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Design a real-time, interactive dashboard that visualizes machine health, sensor telemetry, and failure probabilities in an intuitive Apple-style interface.</a:t>
            </a:r>
            <a:endParaRPr/>
          </a:p>
        </p:txBody>
      </p:sp>
      <p:sp>
        <p:nvSpPr>
          <p:cNvPr id="157" name="Google Shape;157;p17"/>
          <p:cNvSpPr txBox="1"/>
          <p:nvPr/>
        </p:nvSpPr>
        <p:spPr>
          <a:xfrm>
            <a:off x="8423374"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Optimize Maintenance</a:t>
            </a:r>
            <a:endParaRPr/>
          </a:p>
        </p:txBody>
      </p:sp>
      <p:sp>
        <p:nvSpPr>
          <p:cNvPr id="158" name="Google Shape;158;p17"/>
          <p:cNvSpPr txBox="1"/>
          <p:nvPr/>
        </p:nvSpPr>
        <p:spPr>
          <a:xfrm>
            <a:off x="8423374" y="2981325"/>
            <a:ext cx="2901999"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Transition from a reactive "fix-it-when-it-breaks" methodology to a proactive strategy, drastically reducing unnecessary maintenance costs and downtime.</a:t>
            </a:r>
            <a:endParaRPr/>
          </a:p>
        </p:txBody>
      </p:sp>
      <p:pic>
        <p:nvPicPr>
          <p:cNvPr descr="image.png" id="159" name="Google Shape;159;p17"/>
          <p:cNvPicPr preferRelativeResize="0"/>
          <p:nvPr/>
        </p:nvPicPr>
        <p:blipFill rotWithShape="1">
          <a:blip r:embed="rId7">
            <a:alphaModFix/>
          </a:blip>
          <a:srcRect b="0" l="0" r="0" t="0"/>
          <a:stretch/>
        </p:blipFill>
        <p:spPr>
          <a:xfrm>
            <a:off x="866775" y="1895475"/>
            <a:ext cx="381000" cy="381000"/>
          </a:xfrm>
          <a:prstGeom prst="rect">
            <a:avLst/>
          </a:prstGeom>
          <a:noFill/>
          <a:ln>
            <a:noFill/>
          </a:ln>
        </p:spPr>
      </p:pic>
      <p:pic>
        <p:nvPicPr>
          <p:cNvPr descr="image.png" id="160" name="Google Shape;160;p17"/>
          <p:cNvPicPr preferRelativeResize="0"/>
          <p:nvPr/>
        </p:nvPicPr>
        <p:blipFill rotWithShape="1">
          <a:blip r:embed="rId8">
            <a:alphaModFix/>
          </a:blip>
          <a:srcRect b="0" l="0" r="0" t="0"/>
          <a:stretch/>
        </p:blipFill>
        <p:spPr>
          <a:xfrm>
            <a:off x="4645074" y="1895475"/>
            <a:ext cx="428625" cy="381000"/>
          </a:xfrm>
          <a:prstGeom prst="rect">
            <a:avLst/>
          </a:prstGeom>
          <a:noFill/>
          <a:ln>
            <a:noFill/>
          </a:ln>
        </p:spPr>
      </p:pic>
      <p:pic>
        <p:nvPicPr>
          <p:cNvPr descr="image.png" id="161" name="Google Shape;161;p17"/>
          <p:cNvPicPr preferRelativeResize="0"/>
          <p:nvPr/>
        </p:nvPicPr>
        <p:blipFill rotWithShape="1">
          <a:blip r:embed="rId9">
            <a:alphaModFix/>
          </a:blip>
          <a:srcRect b="0" l="0" r="0" t="0"/>
          <a:stretch/>
        </p:blipFill>
        <p:spPr>
          <a:xfrm>
            <a:off x="8423374" y="1895475"/>
            <a:ext cx="381000" cy="381000"/>
          </a:xfrm>
          <a:prstGeom prst="rect">
            <a:avLst/>
          </a:prstGeom>
          <a:noFill/>
          <a:ln>
            <a:noFill/>
          </a:ln>
        </p:spPr>
      </p:pic>
      <p:sp>
        <p:nvSpPr>
          <p:cNvPr id="162" name="Google Shape;162;p17"/>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Project Objectives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6" name="Shape 166"/>
        <p:cNvGrpSpPr/>
        <p:nvPr/>
      </p:nvGrpSpPr>
      <p:grpSpPr>
        <a:xfrm>
          <a:off x="0" y="0"/>
          <a:ext cx="0" cy="0"/>
          <a:chOff x="0" y="0"/>
          <a:chExt cx="0" cy="0"/>
        </a:xfrm>
      </p:grpSpPr>
      <p:pic>
        <p:nvPicPr>
          <p:cNvPr descr="image.png" id="167" name="Google Shape;167;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8" name="Google Shape;168;p18"/>
          <p:cNvPicPr preferRelativeResize="0"/>
          <p:nvPr/>
        </p:nvPicPr>
        <p:blipFill rotWithShape="1">
          <a:blip r:embed="rId4">
            <a:alphaModFix/>
          </a:blip>
          <a:srcRect b="0" l="0" r="0" t="0"/>
          <a:stretch/>
        </p:blipFill>
        <p:spPr>
          <a:xfrm>
            <a:off x="571500" y="1514475"/>
            <a:ext cx="11049000" cy="3629025"/>
          </a:xfrm>
          <a:prstGeom prst="rect">
            <a:avLst/>
          </a:prstGeom>
          <a:noFill/>
          <a:ln>
            <a:noFill/>
          </a:ln>
        </p:spPr>
      </p:pic>
      <p:graphicFrame>
        <p:nvGraphicFramePr>
          <p:cNvPr id="169" name="Google Shape;169;p18"/>
          <p:cNvGraphicFramePr/>
          <p:nvPr/>
        </p:nvGraphicFramePr>
        <p:xfrm>
          <a:off x="581025" y="1524000"/>
          <a:ext cx="3000000" cy="3000000"/>
        </p:xfrm>
        <a:graphic>
          <a:graphicData uri="http://schemas.openxmlformats.org/drawingml/2006/table">
            <a:tbl>
              <a:tblPr bandRow="1" firstRow="1">
                <a:noFill/>
                <a:tableStyleId>{6F9C5976-7210-444F-B886-9E39473210ED}</a:tableStyleId>
              </a:tblPr>
              <a:tblGrid>
                <a:gridCol w="1573400"/>
                <a:gridCol w="4965950"/>
                <a:gridCol w="2981025"/>
                <a:gridCol w="1509575"/>
              </a:tblGrid>
              <a:tr h="902500">
                <a:tc>
                  <a:txBody>
                    <a:bodyPr/>
                    <a:lstStyle/>
                    <a:p>
                      <a:pPr indent="0" lvl="0" marL="0" marR="0" rtl="0" algn="l">
                        <a:spcBef>
                          <a:spcPts val="0"/>
                        </a:spcBef>
                        <a:spcAft>
                          <a:spcPts val="0"/>
                        </a:spcAft>
                        <a:buNone/>
                      </a:pPr>
                      <a:r>
                        <a:rPr b="0" i="0" lang="en-US" sz="1350" u="none" cap="none" strike="noStrike">
                          <a:solidFill>
                            <a:srgbClr val="F5F5F7"/>
                          </a:solidFill>
                          <a:latin typeface="Inter SemiBold"/>
                          <a:ea typeface="Inter SemiBold"/>
                          <a:cs typeface="Inter SemiBold"/>
                          <a:sym typeface="Inter SemiBold"/>
                        </a:rPr>
                        <a:t>Strategy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350" u="none" cap="none" strike="noStrike">
                          <a:solidFill>
                            <a:srgbClr val="F5F5F7"/>
                          </a:solidFill>
                          <a:latin typeface="Inter SemiBold"/>
                          <a:ea typeface="Inter SemiBold"/>
                          <a:cs typeface="Inter SemiBold"/>
                          <a:sym typeface="Inter SemiBold"/>
                        </a:rPr>
                        <a:t>Methodology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350" u="none" cap="none" strike="noStrike">
                          <a:solidFill>
                            <a:srgbClr val="F5F5F7"/>
                          </a:solidFill>
                          <a:latin typeface="Inter SemiBold"/>
                          <a:ea typeface="Inter SemiBold"/>
                          <a:cs typeface="Inter SemiBold"/>
                          <a:sym typeface="Inter SemiBold"/>
                        </a:rPr>
                        <a:t>Cost Implication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350" u="none" cap="none" strike="noStrike">
                          <a:solidFill>
                            <a:srgbClr val="F5F5F7"/>
                          </a:solidFill>
                          <a:latin typeface="Inter SemiBold"/>
                          <a:ea typeface="Inter SemiBold"/>
                          <a:cs typeface="Inter SemiBold"/>
                          <a:sym typeface="Inter SemiBold"/>
                        </a:rPr>
                        <a:t>Risk of Failure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902500">
                <a:tc>
                  <a:txBody>
                    <a:bodyPr/>
                    <a:lstStyle/>
                    <a:p>
                      <a:pPr indent="0" lvl="0" marL="0" marR="0" rtl="0" algn="l">
                        <a:spcBef>
                          <a:spcPts val="0"/>
                        </a:spcBef>
                        <a:spcAft>
                          <a:spcPts val="0"/>
                        </a:spcAft>
                        <a:buNone/>
                      </a:pPr>
                      <a:r>
                        <a:rPr b="1" i="0" lang="en-US" sz="1350" u="none" cap="none" strike="noStrike">
                          <a:solidFill>
                            <a:srgbClr val="86868B"/>
                          </a:solidFill>
                          <a:latin typeface="Inter"/>
                          <a:ea typeface="Inter"/>
                          <a:cs typeface="Inter"/>
                          <a:sym typeface="Inter"/>
                        </a:rPr>
                        <a:t>Reactive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Run-to-failure. Repairing assets only after a breakdown occurs.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Highest (Expedited parts, lost production)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Inter"/>
                          <a:ea typeface="Inter"/>
                          <a:cs typeface="Inter"/>
                          <a:sym typeface="Inter"/>
                        </a:rPr>
                        <a:t> Critical</a:t>
                      </a:r>
                      <a:endParaRPr/>
                    </a:p>
                  </a:txBody>
                  <a:tcPr marT="25400" marB="25400" marR="63500" marL="247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02500">
                <a:tc>
                  <a:txBody>
                    <a:bodyPr/>
                    <a:lstStyle/>
                    <a:p>
                      <a:pPr indent="0" lvl="0" marL="0" marR="0" rtl="0" algn="l">
                        <a:spcBef>
                          <a:spcPts val="0"/>
                        </a:spcBef>
                        <a:spcAft>
                          <a:spcPts val="0"/>
                        </a:spcAft>
                        <a:buNone/>
                      </a:pPr>
                      <a:r>
                        <a:rPr b="1" i="0" lang="en-US" sz="1350" u="none" cap="none" strike="noStrike">
                          <a:solidFill>
                            <a:srgbClr val="86868B"/>
                          </a:solidFill>
                          <a:latin typeface="Inter"/>
                          <a:ea typeface="Inter"/>
                          <a:cs typeface="Inter"/>
                          <a:sym typeface="Inter"/>
                        </a:rPr>
                        <a:t>Preventive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Time-based scheduling. Replacing parts at fixed intervals regardless of condition.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High (Wasted life of healthy components)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9F0A"/>
                          </a:solidFill>
                          <a:latin typeface="Inter"/>
                          <a:ea typeface="Inter"/>
                          <a:cs typeface="Inter"/>
                          <a:sym typeface="Inter"/>
                        </a:rPr>
                        <a:t> Moderate</a:t>
                      </a:r>
                      <a:endParaRPr/>
                    </a:p>
                  </a:txBody>
                  <a:tcPr marT="25400" marB="25400" marR="63500" marL="2762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02500">
                <a:tc>
                  <a:txBody>
                    <a:bodyPr/>
                    <a:lstStyle/>
                    <a:p>
                      <a:pPr indent="0" lvl="0" marL="0" marR="0" rtl="0" algn="l">
                        <a:spcBef>
                          <a:spcPts val="0"/>
                        </a:spcBef>
                        <a:spcAft>
                          <a:spcPts val="0"/>
                        </a:spcAft>
                        <a:buNone/>
                      </a:pPr>
                      <a:r>
                        <a:rPr b="1" i="0" lang="en-US" sz="1350" u="none" cap="none" strike="noStrike">
                          <a:solidFill>
                            <a:srgbClr val="86868B"/>
                          </a:solidFill>
                          <a:latin typeface="Inter"/>
                          <a:ea typeface="Inter"/>
                          <a:cs typeface="Inter"/>
                          <a:sym typeface="Inter"/>
                        </a:rPr>
                        <a:t>Predictive (AI)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A84FF"/>
                    </a:solidFill>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Condition-based. Monitoring real-time data to forecast exact failure points.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A84FF"/>
                    </a:solidFill>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Lowest (Optimized labor and inventory)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A84FF"/>
                    </a:solidFill>
                  </a:tcPr>
                </a:tc>
                <a:tc>
                  <a:txBody>
                    <a:bodyPr/>
                    <a:lstStyle/>
                    <a:p>
                      <a:pPr indent="0" lvl="0" marL="0" marR="0" rtl="0" algn="l">
                        <a:spcBef>
                          <a:spcPts val="0"/>
                        </a:spcBef>
                        <a:spcAft>
                          <a:spcPts val="0"/>
                        </a:spcAft>
                        <a:buNone/>
                      </a:pPr>
                      <a:r>
                        <a:rPr b="0" i="0" lang="en-US" sz="1350" u="none" cap="none" strike="noStrike">
                          <a:latin typeface="Inter"/>
                          <a:ea typeface="Inter"/>
                          <a:cs typeface="Inter"/>
                          <a:sym typeface="Inter"/>
                        </a:rPr>
                        <a:t> Minimal</a:t>
                      </a:r>
                      <a:endParaRPr/>
                    </a:p>
                  </a:txBody>
                  <a:tcPr marT="25400" marB="25400" marR="63500" marL="2476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A84FF"/>
                    </a:solidFill>
                  </a:tcPr>
                </a:tc>
              </a:tr>
            </a:tbl>
          </a:graphicData>
        </a:graphic>
      </p:graphicFrame>
      <p:sp>
        <p:nvSpPr>
          <p:cNvPr id="170" name="Google Shape;170;p18"/>
          <p:cNvSpPr/>
          <p:nvPr/>
        </p:nvSpPr>
        <p:spPr>
          <a:xfrm>
            <a:off x="581025" y="2414587"/>
            <a:ext cx="157341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8"/>
          <p:cNvSpPr/>
          <p:nvPr/>
        </p:nvSpPr>
        <p:spPr>
          <a:xfrm>
            <a:off x="2154435" y="2414587"/>
            <a:ext cx="496594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8"/>
          <p:cNvSpPr/>
          <p:nvPr/>
        </p:nvSpPr>
        <p:spPr>
          <a:xfrm>
            <a:off x="7120383" y="2414587"/>
            <a:ext cx="298102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8"/>
          <p:cNvSpPr/>
          <p:nvPr/>
        </p:nvSpPr>
        <p:spPr>
          <a:xfrm>
            <a:off x="10101411" y="2414587"/>
            <a:ext cx="150956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8"/>
          <p:cNvSpPr/>
          <p:nvPr/>
        </p:nvSpPr>
        <p:spPr>
          <a:xfrm>
            <a:off x="581025" y="3319462"/>
            <a:ext cx="157341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8"/>
          <p:cNvSpPr/>
          <p:nvPr/>
        </p:nvSpPr>
        <p:spPr>
          <a:xfrm>
            <a:off x="2154435" y="3319462"/>
            <a:ext cx="496594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18"/>
          <p:cNvSpPr/>
          <p:nvPr/>
        </p:nvSpPr>
        <p:spPr>
          <a:xfrm>
            <a:off x="7120383" y="3319462"/>
            <a:ext cx="298102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8"/>
          <p:cNvSpPr/>
          <p:nvPr/>
        </p:nvSpPr>
        <p:spPr>
          <a:xfrm>
            <a:off x="10101411" y="3319462"/>
            <a:ext cx="150956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8"/>
          <p:cNvSpPr/>
          <p:nvPr/>
        </p:nvSpPr>
        <p:spPr>
          <a:xfrm>
            <a:off x="581025" y="4224337"/>
            <a:ext cx="157341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18"/>
          <p:cNvSpPr/>
          <p:nvPr/>
        </p:nvSpPr>
        <p:spPr>
          <a:xfrm>
            <a:off x="2154435" y="4224337"/>
            <a:ext cx="496594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18"/>
          <p:cNvSpPr/>
          <p:nvPr/>
        </p:nvSpPr>
        <p:spPr>
          <a:xfrm>
            <a:off x="7120383" y="4224337"/>
            <a:ext cx="298102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18"/>
          <p:cNvSpPr/>
          <p:nvPr/>
        </p:nvSpPr>
        <p:spPr>
          <a:xfrm>
            <a:off x="10101411" y="4224337"/>
            <a:ext cx="150956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82" name="Google Shape;182;p18"/>
          <p:cNvPicPr preferRelativeResize="0"/>
          <p:nvPr/>
        </p:nvPicPr>
        <p:blipFill rotWithShape="1">
          <a:blip r:embed="rId5">
            <a:alphaModFix/>
          </a:blip>
          <a:srcRect b="0" l="0" r="0" t="0"/>
          <a:stretch/>
        </p:blipFill>
        <p:spPr>
          <a:xfrm>
            <a:off x="10339536" y="2795587"/>
            <a:ext cx="133350" cy="171450"/>
          </a:xfrm>
          <a:prstGeom prst="rect">
            <a:avLst/>
          </a:prstGeom>
          <a:noFill/>
          <a:ln>
            <a:noFill/>
          </a:ln>
        </p:spPr>
      </p:pic>
      <p:pic>
        <p:nvPicPr>
          <p:cNvPr descr="image.png" id="183" name="Google Shape;183;p18"/>
          <p:cNvPicPr preferRelativeResize="0"/>
          <p:nvPr/>
        </p:nvPicPr>
        <p:blipFill rotWithShape="1">
          <a:blip r:embed="rId6">
            <a:alphaModFix/>
          </a:blip>
          <a:srcRect b="0" l="0" r="0" t="0"/>
          <a:stretch/>
        </p:blipFill>
        <p:spPr>
          <a:xfrm>
            <a:off x="10339536" y="4605337"/>
            <a:ext cx="133350" cy="171450"/>
          </a:xfrm>
          <a:prstGeom prst="rect">
            <a:avLst/>
          </a:prstGeom>
          <a:noFill/>
          <a:ln>
            <a:noFill/>
          </a:ln>
        </p:spPr>
      </p:pic>
      <p:pic>
        <p:nvPicPr>
          <p:cNvPr descr="image.png" id="184" name="Google Shape;184;p18"/>
          <p:cNvPicPr preferRelativeResize="0"/>
          <p:nvPr/>
        </p:nvPicPr>
        <p:blipFill rotWithShape="1">
          <a:blip r:embed="rId7">
            <a:alphaModFix/>
          </a:blip>
          <a:srcRect b="0" l="0" r="0" t="0"/>
          <a:stretch/>
        </p:blipFill>
        <p:spPr>
          <a:xfrm>
            <a:off x="10339536" y="3700462"/>
            <a:ext cx="161925" cy="171450"/>
          </a:xfrm>
          <a:prstGeom prst="rect">
            <a:avLst/>
          </a:prstGeom>
          <a:noFill/>
          <a:ln>
            <a:noFill/>
          </a:ln>
        </p:spPr>
      </p:pic>
      <p:pic>
        <p:nvPicPr>
          <p:cNvPr descr="image.png" id="185" name="Google Shape;185;p18"/>
          <p:cNvPicPr preferRelativeResize="0"/>
          <p:nvPr/>
        </p:nvPicPr>
        <p:blipFill rotWithShape="1">
          <a:blip r:embed="rId5">
            <a:alphaModFix/>
          </a:blip>
          <a:srcRect b="0" l="0" r="0" t="0"/>
          <a:stretch/>
        </p:blipFill>
        <p:spPr>
          <a:xfrm>
            <a:off x="10339536" y="2795587"/>
            <a:ext cx="133350" cy="171450"/>
          </a:xfrm>
          <a:prstGeom prst="rect">
            <a:avLst/>
          </a:prstGeom>
          <a:noFill/>
          <a:ln>
            <a:noFill/>
          </a:ln>
        </p:spPr>
      </p:pic>
      <p:pic>
        <p:nvPicPr>
          <p:cNvPr descr="image.png" id="186" name="Google Shape;186;p18"/>
          <p:cNvPicPr preferRelativeResize="0"/>
          <p:nvPr/>
        </p:nvPicPr>
        <p:blipFill rotWithShape="1">
          <a:blip r:embed="rId7">
            <a:alphaModFix/>
          </a:blip>
          <a:srcRect b="0" l="0" r="0" t="0"/>
          <a:stretch/>
        </p:blipFill>
        <p:spPr>
          <a:xfrm>
            <a:off x="10339536" y="3700462"/>
            <a:ext cx="161925" cy="171450"/>
          </a:xfrm>
          <a:prstGeom prst="rect">
            <a:avLst/>
          </a:prstGeom>
          <a:noFill/>
          <a:ln>
            <a:noFill/>
          </a:ln>
        </p:spPr>
      </p:pic>
      <p:pic>
        <p:nvPicPr>
          <p:cNvPr descr="image.png" id="187" name="Google Shape;187;p18"/>
          <p:cNvPicPr preferRelativeResize="0"/>
          <p:nvPr/>
        </p:nvPicPr>
        <p:blipFill rotWithShape="1">
          <a:blip r:embed="rId6">
            <a:alphaModFix/>
          </a:blip>
          <a:srcRect b="0" l="0" r="0" t="0"/>
          <a:stretch/>
        </p:blipFill>
        <p:spPr>
          <a:xfrm>
            <a:off x="10339536" y="4605337"/>
            <a:ext cx="133350" cy="171450"/>
          </a:xfrm>
          <a:prstGeom prst="rect">
            <a:avLst/>
          </a:prstGeom>
          <a:noFill/>
          <a:ln>
            <a:noFill/>
          </a:ln>
        </p:spPr>
      </p:pic>
      <p:sp>
        <p:nvSpPr>
          <p:cNvPr id="188" name="Google Shape;188;p18"/>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Maintenance Strategies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92" name="Shape 192"/>
        <p:cNvGrpSpPr/>
        <p:nvPr/>
      </p:nvGrpSpPr>
      <p:grpSpPr>
        <a:xfrm>
          <a:off x="0" y="0"/>
          <a:ext cx="0" cy="0"/>
          <a:chOff x="0" y="0"/>
          <a:chExt cx="0" cy="0"/>
        </a:xfrm>
      </p:grpSpPr>
      <p:pic>
        <p:nvPicPr>
          <p:cNvPr descr="image.png" id="193" name="Google Shape;193;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4" name="Google Shape;194;p19"/>
          <p:cNvPicPr preferRelativeResize="0"/>
          <p:nvPr/>
        </p:nvPicPr>
        <p:blipFill rotWithShape="1">
          <a:blip r:embed="rId4">
            <a:alphaModFix/>
          </a:blip>
          <a:srcRect b="0" l="0" r="0" t="0"/>
          <a:stretch/>
        </p:blipFill>
        <p:spPr>
          <a:xfrm>
            <a:off x="571500" y="1514475"/>
            <a:ext cx="5629275" cy="4772025"/>
          </a:xfrm>
          <a:prstGeom prst="rect">
            <a:avLst/>
          </a:prstGeom>
          <a:noFill/>
          <a:ln>
            <a:noFill/>
          </a:ln>
        </p:spPr>
      </p:pic>
      <p:pic>
        <p:nvPicPr>
          <p:cNvPr descr="image.png" id="195" name="Google Shape;195;p19"/>
          <p:cNvPicPr preferRelativeResize="0"/>
          <p:nvPr/>
        </p:nvPicPr>
        <p:blipFill rotWithShape="1">
          <a:blip r:embed="rId5">
            <a:alphaModFix/>
          </a:blip>
          <a:srcRect b="0" l="0" r="0" t="0"/>
          <a:stretch/>
        </p:blipFill>
        <p:spPr>
          <a:xfrm>
            <a:off x="6581775" y="1514475"/>
            <a:ext cx="5038725" cy="4286250"/>
          </a:xfrm>
          <a:prstGeom prst="rect">
            <a:avLst/>
          </a:prstGeom>
          <a:noFill/>
          <a:ln>
            <a:noFill/>
          </a:ln>
        </p:spPr>
      </p:pic>
      <p:sp>
        <p:nvSpPr>
          <p:cNvPr id="196" name="Google Shape;196;p19"/>
          <p:cNvSpPr txBox="1"/>
          <p:nvPr/>
        </p:nvSpPr>
        <p:spPr>
          <a:xfrm>
            <a:off x="866775" y="1809750"/>
            <a:ext cx="5290661"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Intelligent Intervention</a:t>
            </a:r>
            <a:endParaRPr/>
          </a:p>
        </p:txBody>
      </p:sp>
      <p:pic>
        <p:nvPicPr>
          <p:cNvPr descr="image.png" id="197" name="Google Shape;197;p19"/>
          <p:cNvPicPr preferRelativeResize="0"/>
          <p:nvPr/>
        </p:nvPicPr>
        <p:blipFill rotWithShape="1">
          <a:blip r:embed="rId6">
            <a:alphaModFix/>
          </a:blip>
          <a:srcRect b="0" l="0" r="0" t="0"/>
          <a:stretch/>
        </p:blipFill>
        <p:spPr>
          <a:xfrm>
            <a:off x="6591300" y="1524000"/>
            <a:ext cx="5019675" cy="4267200"/>
          </a:xfrm>
          <a:prstGeom prst="rect">
            <a:avLst/>
          </a:prstGeom>
          <a:noFill/>
          <a:ln>
            <a:noFill/>
          </a:ln>
        </p:spPr>
      </p:pic>
      <p:sp>
        <p:nvSpPr>
          <p:cNvPr id="198" name="Google Shape;198;p19"/>
          <p:cNvSpPr txBox="1"/>
          <p:nvPr/>
        </p:nvSpPr>
        <p:spPr>
          <a:xfrm>
            <a:off x="1152525" y="2276475"/>
            <a:ext cx="475297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Predictive Maintenance (PdM) utilizes continuous condition monitoring and AI algorithms to evaluate the real-time operational health of industrial assets.</a:t>
            </a:r>
            <a:endParaRPr/>
          </a:p>
        </p:txBody>
      </p:sp>
      <p:sp>
        <p:nvSpPr>
          <p:cNvPr id="199" name="Google Shape;199;p19"/>
          <p:cNvSpPr txBox="1"/>
          <p:nvPr/>
        </p:nvSpPr>
        <p:spPr>
          <a:xfrm>
            <a:off x="1152525" y="3190875"/>
            <a:ext cx="475297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By analyzing data trends (e.g., rising temperature or anomalous vibrations), the system detects micro-faults weeks before a catastrophic failure.</a:t>
            </a:r>
            <a:endParaRPr/>
          </a:p>
        </p:txBody>
      </p:sp>
      <p:sp>
        <p:nvSpPr>
          <p:cNvPr id="200" name="Google Shape;200;p19"/>
          <p:cNvSpPr txBox="1"/>
          <p:nvPr/>
        </p:nvSpPr>
        <p:spPr>
          <a:xfrm>
            <a:off x="1152525" y="4105275"/>
            <a:ext cx="475297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This allows maintenance teams to schedule targeted repairs precisely when needed, completely avoiding unplanned production halts.</a:t>
            </a:r>
            <a:endParaRPr/>
          </a:p>
        </p:txBody>
      </p:sp>
      <p:sp>
        <p:nvSpPr>
          <p:cNvPr id="201" name="Google Shape;201;p19"/>
          <p:cNvSpPr txBox="1"/>
          <p:nvPr/>
        </p:nvSpPr>
        <p:spPr>
          <a:xfrm>
            <a:off x="1152525" y="5019675"/>
            <a:ext cx="475297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It maximizes the useful life of machine components and ensures a safer, more efficient manufacturing environment.</a:t>
            </a:r>
            <a:endParaRPr/>
          </a:p>
        </p:txBody>
      </p:sp>
      <p:sp>
        <p:nvSpPr>
          <p:cNvPr id="202" name="Google Shape;202;p19"/>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Predictive Maintenance</a:t>
            </a:r>
            <a:endParaRPr/>
          </a:p>
        </p:txBody>
      </p:sp>
      <p:pic>
        <p:nvPicPr>
          <p:cNvPr descr="image.png" id="203" name="Google Shape;203;p19"/>
          <p:cNvPicPr preferRelativeResize="0"/>
          <p:nvPr/>
        </p:nvPicPr>
        <p:blipFill rotWithShape="1">
          <a:blip r:embed="rId7">
            <a:alphaModFix/>
          </a:blip>
          <a:srcRect b="0" l="0" r="0" t="0"/>
          <a:stretch/>
        </p:blipFill>
        <p:spPr>
          <a:xfrm>
            <a:off x="866775" y="2314575"/>
            <a:ext cx="76200" cy="76200"/>
          </a:xfrm>
          <a:prstGeom prst="rect">
            <a:avLst/>
          </a:prstGeom>
          <a:noFill/>
          <a:ln>
            <a:noFill/>
          </a:ln>
        </p:spPr>
      </p:pic>
      <p:pic>
        <p:nvPicPr>
          <p:cNvPr descr="image.png" id="204" name="Google Shape;204;p19"/>
          <p:cNvPicPr preferRelativeResize="0"/>
          <p:nvPr/>
        </p:nvPicPr>
        <p:blipFill rotWithShape="1">
          <a:blip r:embed="rId7">
            <a:alphaModFix/>
          </a:blip>
          <a:srcRect b="0" l="0" r="0" t="0"/>
          <a:stretch/>
        </p:blipFill>
        <p:spPr>
          <a:xfrm>
            <a:off x="866775" y="3228975"/>
            <a:ext cx="76200" cy="76200"/>
          </a:xfrm>
          <a:prstGeom prst="rect">
            <a:avLst/>
          </a:prstGeom>
          <a:noFill/>
          <a:ln>
            <a:noFill/>
          </a:ln>
        </p:spPr>
      </p:pic>
      <p:pic>
        <p:nvPicPr>
          <p:cNvPr descr="image.png" id="205" name="Google Shape;205;p19"/>
          <p:cNvPicPr preferRelativeResize="0"/>
          <p:nvPr/>
        </p:nvPicPr>
        <p:blipFill rotWithShape="1">
          <a:blip r:embed="rId7">
            <a:alphaModFix/>
          </a:blip>
          <a:srcRect b="0" l="0" r="0" t="0"/>
          <a:stretch/>
        </p:blipFill>
        <p:spPr>
          <a:xfrm>
            <a:off x="866775" y="4143375"/>
            <a:ext cx="76200" cy="76200"/>
          </a:xfrm>
          <a:prstGeom prst="rect">
            <a:avLst/>
          </a:prstGeom>
          <a:noFill/>
          <a:ln>
            <a:noFill/>
          </a:ln>
        </p:spPr>
      </p:pic>
      <p:pic>
        <p:nvPicPr>
          <p:cNvPr descr="image.png" id="206" name="Google Shape;206;p19"/>
          <p:cNvPicPr preferRelativeResize="0"/>
          <p:nvPr/>
        </p:nvPicPr>
        <p:blipFill rotWithShape="1">
          <a:blip r:embed="rId7">
            <a:alphaModFix/>
          </a:blip>
          <a:srcRect b="0" l="0" r="0" t="0"/>
          <a:stretch/>
        </p:blipFill>
        <p:spPr>
          <a:xfrm>
            <a:off x="866775" y="5057775"/>
            <a:ext cx="76200" cy="76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10" name="Shape 210"/>
        <p:cNvGrpSpPr/>
        <p:nvPr/>
      </p:nvGrpSpPr>
      <p:grpSpPr>
        <a:xfrm>
          <a:off x="0" y="0"/>
          <a:ext cx="0" cy="0"/>
          <a:chOff x="0" y="0"/>
          <a:chExt cx="0" cy="0"/>
        </a:xfrm>
      </p:grpSpPr>
      <p:pic>
        <p:nvPicPr>
          <p:cNvPr descr="image.png" id="211" name="Google Shape;211;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2" name="Google Shape;212;p20"/>
          <p:cNvPicPr preferRelativeResize="0"/>
          <p:nvPr/>
        </p:nvPicPr>
        <p:blipFill rotWithShape="1">
          <a:blip r:embed="rId4">
            <a:alphaModFix/>
          </a:blip>
          <a:srcRect b="0" l="0" r="0" t="0"/>
          <a:stretch/>
        </p:blipFill>
        <p:spPr>
          <a:xfrm>
            <a:off x="5991225" y="2071687"/>
            <a:ext cx="5629275" cy="3657600"/>
          </a:xfrm>
          <a:prstGeom prst="rect">
            <a:avLst/>
          </a:prstGeom>
          <a:noFill/>
          <a:ln>
            <a:noFill/>
          </a:ln>
        </p:spPr>
      </p:pic>
      <p:pic>
        <p:nvPicPr>
          <p:cNvPr descr="image.png" id="213" name="Google Shape;213;p20"/>
          <p:cNvPicPr preferRelativeResize="0"/>
          <p:nvPr/>
        </p:nvPicPr>
        <p:blipFill rotWithShape="1">
          <a:blip r:embed="rId5">
            <a:alphaModFix/>
          </a:blip>
          <a:srcRect b="0" l="0" r="0" t="0"/>
          <a:stretch/>
        </p:blipFill>
        <p:spPr>
          <a:xfrm>
            <a:off x="1185862" y="1995487"/>
            <a:ext cx="3810000" cy="3810000"/>
          </a:xfrm>
          <a:prstGeom prst="rect">
            <a:avLst/>
          </a:prstGeom>
          <a:noFill/>
          <a:ln>
            <a:noFill/>
          </a:ln>
        </p:spPr>
      </p:pic>
      <p:sp>
        <p:nvSpPr>
          <p:cNvPr id="214" name="Google Shape;214;p20"/>
          <p:cNvSpPr txBox="1"/>
          <p:nvPr/>
        </p:nvSpPr>
        <p:spPr>
          <a:xfrm>
            <a:off x="6286500" y="2366962"/>
            <a:ext cx="5290661"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Bridging Physical and Virtual</a:t>
            </a:r>
            <a:endParaRPr/>
          </a:p>
        </p:txBody>
      </p:sp>
      <p:sp>
        <p:nvSpPr>
          <p:cNvPr id="215" name="Google Shape;215;p20"/>
          <p:cNvSpPr txBox="1"/>
          <p:nvPr/>
        </p:nvSpPr>
        <p:spPr>
          <a:xfrm>
            <a:off x="6286500" y="2833687"/>
            <a:ext cx="503872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A Digital Twin is the cornerstone of this predictive system. It is a highly complex, virtual replica of a physical robotic arm or CNC machine.</a:t>
            </a:r>
            <a:endParaRPr/>
          </a:p>
        </p:txBody>
      </p:sp>
      <p:sp>
        <p:nvSpPr>
          <p:cNvPr id="216" name="Google Shape;216;p20"/>
          <p:cNvSpPr txBox="1"/>
          <p:nvPr/>
        </p:nvSpPr>
        <p:spPr>
          <a:xfrm>
            <a:off x="6286500" y="3748087"/>
            <a:ext cx="5038725" cy="1543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IoT sensors on the physical machine stream high-velocity telemetry (temperature, RPM, pressure) directly to the virtual model. The Digital Twin acts as the "brain," running simulations and AI models against this data in real-time, allowing operators to monitor internal machine states that are invisible to the naked eye.</a:t>
            </a:r>
            <a:endParaRPr/>
          </a:p>
        </p:txBody>
      </p:sp>
      <p:pic>
        <p:nvPicPr>
          <p:cNvPr descr="image.png" id="217" name="Google Shape;217;p20"/>
          <p:cNvPicPr preferRelativeResize="0"/>
          <p:nvPr/>
        </p:nvPicPr>
        <p:blipFill rotWithShape="1">
          <a:blip r:embed="rId6">
            <a:alphaModFix/>
          </a:blip>
          <a:srcRect b="0" l="0" r="0" t="0"/>
          <a:stretch/>
        </p:blipFill>
        <p:spPr>
          <a:xfrm>
            <a:off x="1204912" y="2014537"/>
            <a:ext cx="3771900" cy="3771900"/>
          </a:xfrm>
          <a:prstGeom prst="rect">
            <a:avLst/>
          </a:prstGeom>
          <a:noFill/>
          <a:ln>
            <a:noFill/>
          </a:ln>
        </p:spPr>
      </p:pic>
      <p:sp>
        <p:nvSpPr>
          <p:cNvPr id="218" name="Google Shape;218;p20"/>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The Digital Twin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22" name="Shape 222"/>
        <p:cNvGrpSpPr/>
        <p:nvPr/>
      </p:nvGrpSpPr>
      <p:grpSpPr>
        <a:xfrm>
          <a:off x="0" y="0"/>
          <a:ext cx="0" cy="0"/>
          <a:chOff x="0" y="0"/>
          <a:chExt cx="0" cy="0"/>
        </a:xfrm>
      </p:grpSpPr>
      <p:pic>
        <p:nvPicPr>
          <p:cNvPr descr="image.png" id="223" name="Google Shape;223;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4" name="Google Shape;224;p21"/>
          <p:cNvPicPr preferRelativeResize="0"/>
          <p:nvPr/>
        </p:nvPicPr>
        <p:blipFill rotWithShape="1">
          <a:blip r:embed="rId4">
            <a:alphaModFix/>
          </a:blip>
          <a:srcRect b="0" l="0" r="0" t="0"/>
          <a:stretch/>
        </p:blipFill>
        <p:spPr>
          <a:xfrm>
            <a:off x="571500" y="1514475"/>
            <a:ext cx="3492549" cy="3095625"/>
          </a:xfrm>
          <a:prstGeom prst="rect">
            <a:avLst/>
          </a:prstGeom>
          <a:noFill/>
          <a:ln>
            <a:noFill/>
          </a:ln>
        </p:spPr>
      </p:pic>
      <p:pic>
        <p:nvPicPr>
          <p:cNvPr descr="image.png" id="225" name="Google Shape;225;p21"/>
          <p:cNvPicPr preferRelativeResize="0"/>
          <p:nvPr/>
        </p:nvPicPr>
        <p:blipFill rotWithShape="1">
          <a:blip r:embed="rId5">
            <a:alphaModFix/>
          </a:blip>
          <a:srcRect b="0" l="0" r="0" t="0"/>
          <a:stretch/>
        </p:blipFill>
        <p:spPr>
          <a:xfrm>
            <a:off x="4349799" y="1514475"/>
            <a:ext cx="3492549" cy="3095625"/>
          </a:xfrm>
          <a:prstGeom prst="rect">
            <a:avLst/>
          </a:prstGeom>
          <a:noFill/>
          <a:ln>
            <a:noFill/>
          </a:ln>
        </p:spPr>
      </p:pic>
      <p:pic>
        <p:nvPicPr>
          <p:cNvPr descr="image.png" id="226" name="Google Shape;226;p21"/>
          <p:cNvPicPr preferRelativeResize="0"/>
          <p:nvPr/>
        </p:nvPicPr>
        <p:blipFill rotWithShape="1">
          <a:blip r:embed="rId6">
            <a:alphaModFix/>
          </a:blip>
          <a:srcRect b="0" l="0" r="0" t="0"/>
          <a:stretch/>
        </p:blipFill>
        <p:spPr>
          <a:xfrm>
            <a:off x="8128099" y="1514475"/>
            <a:ext cx="3492549" cy="3095625"/>
          </a:xfrm>
          <a:prstGeom prst="rect">
            <a:avLst/>
          </a:prstGeom>
          <a:noFill/>
          <a:ln>
            <a:noFill/>
          </a:ln>
        </p:spPr>
      </p:pic>
      <p:sp>
        <p:nvSpPr>
          <p:cNvPr id="227" name="Google Shape;227;p21"/>
          <p:cNvSpPr txBox="1"/>
          <p:nvPr/>
        </p:nvSpPr>
        <p:spPr>
          <a:xfrm>
            <a:off x="866775"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Pattern Recognition</a:t>
            </a:r>
            <a:endParaRPr/>
          </a:p>
        </p:txBody>
      </p:sp>
      <p:sp>
        <p:nvSpPr>
          <p:cNvPr id="228" name="Google Shape;228;p21"/>
          <p:cNvSpPr txBox="1"/>
          <p:nvPr/>
        </p:nvSpPr>
        <p:spPr>
          <a:xfrm>
            <a:off x="866775" y="2981325"/>
            <a:ext cx="2901999"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Human operators cannot process thousands of sensor readings per second. Machine Learning excels at finding hidden correlations across high-dimensional IoT data streams.</a:t>
            </a:r>
            <a:endParaRPr/>
          </a:p>
        </p:txBody>
      </p:sp>
      <p:sp>
        <p:nvSpPr>
          <p:cNvPr id="229" name="Google Shape;229;p21"/>
          <p:cNvSpPr txBox="1"/>
          <p:nvPr/>
        </p:nvSpPr>
        <p:spPr>
          <a:xfrm>
            <a:off x="4645074"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Anomaly Detection</a:t>
            </a:r>
            <a:endParaRPr/>
          </a:p>
        </p:txBody>
      </p:sp>
      <p:sp>
        <p:nvSpPr>
          <p:cNvPr id="230" name="Google Shape;230;p21"/>
          <p:cNvSpPr txBox="1"/>
          <p:nvPr/>
        </p:nvSpPr>
        <p:spPr>
          <a:xfrm>
            <a:off x="4645074" y="2981325"/>
            <a:ext cx="2901999"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AI algorithms establish a baseline of "normal" operational behavior and instantly flag microscopic deviations, such as a 0.5% spike in motor vibration.</a:t>
            </a:r>
            <a:endParaRPr/>
          </a:p>
        </p:txBody>
      </p:sp>
      <p:sp>
        <p:nvSpPr>
          <p:cNvPr id="231" name="Google Shape;231;p21"/>
          <p:cNvSpPr txBox="1"/>
          <p:nvPr/>
        </p:nvSpPr>
        <p:spPr>
          <a:xfrm>
            <a:off x="8423374"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High Precision</a:t>
            </a:r>
            <a:endParaRPr/>
          </a:p>
        </p:txBody>
      </p:sp>
      <p:sp>
        <p:nvSpPr>
          <p:cNvPr id="232" name="Google Shape;232;p21"/>
          <p:cNvSpPr txBox="1"/>
          <p:nvPr/>
        </p:nvSpPr>
        <p:spPr>
          <a:xfrm>
            <a:off x="8423374" y="2981325"/>
            <a:ext cx="2901999"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Unlike simple threshold alerts, AI models evaluate the compounding effect of multiple variables, dramatically reducing false positive alarms on the factory floor.</a:t>
            </a:r>
            <a:endParaRPr/>
          </a:p>
        </p:txBody>
      </p:sp>
      <p:pic>
        <p:nvPicPr>
          <p:cNvPr descr="image.png" id="233" name="Google Shape;233;p21"/>
          <p:cNvPicPr preferRelativeResize="0"/>
          <p:nvPr/>
        </p:nvPicPr>
        <p:blipFill rotWithShape="1">
          <a:blip r:embed="rId7">
            <a:alphaModFix/>
          </a:blip>
          <a:srcRect b="0" l="0" r="0" t="0"/>
          <a:stretch/>
        </p:blipFill>
        <p:spPr>
          <a:xfrm>
            <a:off x="866775" y="1895475"/>
            <a:ext cx="381000" cy="381000"/>
          </a:xfrm>
          <a:prstGeom prst="rect">
            <a:avLst/>
          </a:prstGeom>
          <a:noFill/>
          <a:ln>
            <a:noFill/>
          </a:ln>
        </p:spPr>
      </p:pic>
      <p:pic>
        <p:nvPicPr>
          <p:cNvPr descr="image.png" id="234" name="Google Shape;234;p21"/>
          <p:cNvPicPr preferRelativeResize="0"/>
          <p:nvPr/>
        </p:nvPicPr>
        <p:blipFill rotWithShape="1">
          <a:blip r:embed="rId8">
            <a:alphaModFix/>
          </a:blip>
          <a:srcRect b="0" l="0" r="0" t="0"/>
          <a:stretch/>
        </p:blipFill>
        <p:spPr>
          <a:xfrm>
            <a:off x="4645074" y="1895475"/>
            <a:ext cx="381000" cy="381000"/>
          </a:xfrm>
          <a:prstGeom prst="rect">
            <a:avLst/>
          </a:prstGeom>
          <a:noFill/>
          <a:ln>
            <a:noFill/>
          </a:ln>
        </p:spPr>
      </p:pic>
      <p:pic>
        <p:nvPicPr>
          <p:cNvPr descr="image.png" id="235" name="Google Shape;235;p21"/>
          <p:cNvPicPr preferRelativeResize="0"/>
          <p:nvPr/>
        </p:nvPicPr>
        <p:blipFill rotWithShape="1">
          <a:blip r:embed="rId9">
            <a:alphaModFix/>
          </a:blip>
          <a:srcRect b="0" l="0" r="0" t="0"/>
          <a:stretch/>
        </p:blipFill>
        <p:spPr>
          <a:xfrm>
            <a:off x="8423374" y="1895475"/>
            <a:ext cx="381000" cy="381000"/>
          </a:xfrm>
          <a:prstGeom prst="rect">
            <a:avLst/>
          </a:prstGeom>
          <a:noFill/>
          <a:ln>
            <a:noFill/>
          </a:ln>
        </p:spPr>
      </p:pic>
      <p:sp>
        <p:nvSpPr>
          <p:cNvPr id="236" name="Google Shape;236;p21"/>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Why Artificial Intelligence?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40" name="Shape 240"/>
        <p:cNvGrpSpPr/>
        <p:nvPr/>
      </p:nvGrpSpPr>
      <p:grpSpPr>
        <a:xfrm>
          <a:off x="0" y="0"/>
          <a:ext cx="0" cy="0"/>
          <a:chOff x="0" y="0"/>
          <a:chExt cx="0" cy="0"/>
        </a:xfrm>
      </p:grpSpPr>
      <p:pic>
        <p:nvPicPr>
          <p:cNvPr descr="image.png" id="241" name="Google Shape;241;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2" name="Google Shape;242;p22"/>
          <p:cNvPicPr preferRelativeResize="0"/>
          <p:nvPr/>
        </p:nvPicPr>
        <p:blipFill rotWithShape="1">
          <a:blip r:embed="rId4">
            <a:alphaModFix/>
          </a:blip>
          <a:srcRect b="0" l="0" r="0" t="0"/>
          <a:stretch/>
        </p:blipFill>
        <p:spPr>
          <a:xfrm>
            <a:off x="571500" y="1514475"/>
            <a:ext cx="5334000" cy="4772025"/>
          </a:xfrm>
          <a:prstGeom prst="rect">
            <a:avLst/>
          </a:prstGeom>
          <a:noFill/>
          <a:ln>
            <a:noFill/>
          </a:ln>
        </p:spPr>
      </p:pic>
      <p:pic>
        <p:nvPicPr>
          <p:cNvPr descr="image.png" id="243" name="Google Shape;243;p22"/>
          <p:cNvPicPr preferRelativeResize="0"/>
          <p:nvPr/>
        </p:nvPicPr>
        <p:blipFill rotWithShape="1">
          <a:blip r:embed="rId5">
            <a:alphaModFix/>
          </a:blip>
          <a:srcRect b="0" l="0" r="0" t="0"/>
          <a:stretch/>
        </p:blipFill>
        <p:spPr>
          <a:xfrm>
            <a:off x="6286500" y="1514475"/>
            <a:ext cx="5334000" cy="4772025"/>
          </a:xfrm>
          <a:prstGeom prst="rect">
            <a:avLst/>
          </a:prstGeom>
          <a:noFill/>
          <a:ln>
            <a:noFill/>
          </a:ln>
        </p:spPr>
      </p:pic>
      <p:sp>
        <p:nvSpPr>
          <p:cNvPr id="244" name="Google Shape;244;p22"/>
          <p:cNvSpPr txBox="1"/>
          <p:nvPr/>
        </p:nvSpPr>
        <p:spPr>
          <a:xfrm>
            <a:off x="962025" y="1905000"/>
            <a:ext cx="478059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1. Data Generation &amp; Pipeline</a:t>
            </a:r>
            <a:endParaRPr/>
          </a:p>
        </p:txBody>
      </p:sp>
      <p:sp>
        <p:nvSpPr>
          <p:cNvPr id="245" name="Google Shape;245;p22"/>
          <p:cNvSpPr txBox="1"/>
          <p:nvPr/>
        </p:nvSpPr>
        <p:spPr>
          <a:xfrm>
            <a:off x="962025" y="2371725"/>
            <a:ext cx="4552950"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Since physical industrial machine data is proprietary, we developed a robust Python-based physics simulation engine to generate highly realistic, multivariate operational telemetry (simulating normal wear and failure modes).</a:t>
            </a:r>
            <a:endParaRPr/>
          </a:p>
        </p:txBody>
      </p:sp>
      <p:sp>
        <p:nvSpPr>
          <p:cNvPr id="246" name="Google Shape;246;p22"/>
          <p:cNvSpPr txBox="1"/>
          <p:nvPr/>
        </p:nvSpPr>
        <p:spPr>
          <a:xfrm>
            <a:off x="6677025" y="1905000"/>
            <a:ext cx="478059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2. Intelligence &amp; Visualization</a:t>
            </a:r>
            <a:endParaRPr/>
          </a:p>
        </p:txBody>
      </p:sp>
      <p:sp>
        <p:nvSpPr>
          <p:cNvPr id="247" name="Google Shape;247;p22"/>
          <p:cNvSpPr txBox="1"/>
          <p:nvPr/>
        </p:nvSpPr>
        <p:spPr>
          <a:xfrm>
            <a:off x="6677025" y="2371725"/>
            <a:ext cx="4552950"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The generated data feeds into a scikit-learn Machine Learning pipeline for real-time classification. The predictions are subsequently broadcast to a Streamlit-powered Digital Twin Dashboard for executive monitoring and alert generation.</a:t>
            </a:r>
            <a:endParaRPr/>
          </a:p>
        </p:txBody>
      </p:sp>
      <p:sp>
        <p:nvSpPr>
          <p:cNvPr id="248" name="Google Shape;248;p22"/>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End-to-End Workflow</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52" name="Shape 252"/>
        <p:cNvGrpSpPr/>
        <p:nvPr/>
      </p:nvGrpSpPr>
      <p:grpSpPr>
        <a:xfrm>
          <a:off x="0" y="0"/>
          <a:ext cx="0" cy="0"/>
          <a:chOff x="0" y="0"/>
          <a:chExt cx="0" cy="0"/>
        </a:xfrm>
      </p:grpSpPr>
      <p:pic>
        <p:nvPicPr>
          <p:cNvPr descr="image.png" id="253" name="Google Shape;253;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4" name="Google Shape;254;p23"/>
          <p:cNvPicPr preferRelativeResize="0"/>
          <p:nvPr/>
        </p:nvPicPr>
        <p:blipFill rotWithShape="1">
          <a:blip r:embed="rId4">
            <a:alphaModFix/>
          </a:blip>
          <a:srcRect b="0" l="0" r="0" t="0"/>
          <a:stretch/>
        </p:blipFill>
        <p:spPr>
          <a:xfrm>
            <a:off x="571500" y="1514475"/>
            <a:ext cx="4953000" cy="3248025"/>
          </a:xfrm>
          <a:prstGeom prst="rect">
            <a:avLst/>
          </a:prstGeom>
          <a:noFill/>
          <a:ln>
            <a:noFill/>
          </a:ln>
        </p:spPr>
      </p:pic>
      <p:sp>
        <p:nvSpPr>
          <p:cNvPr id="255" name="Google Shape;255;p23"/>
          <p:cNvSpPr txBox="1"/>
          <p:nvPr/>
        </p:nvSpPr>
        <p:spPr>
          <a:xfrm>
            <a:off x="571500" y="571500"/>
            <a:ext cx="52006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System Architecture</a:t>
            </a:r>
            <a:endParaRPr/>
          </a:p>
        </p:txBody>
      </p:sp>
      <p:pic>
        <p:nvPicPr>
          <p:cNvPr descr="image.png" id="256" name="Google Shape;256;p23"/>
          <p:cNvPicPr preferRelativeResize="0"/>
          <p:nvPr/>
        </p:nvPicPr>
        <p:blipFill rotWithShape="1">
          <a:blip r:embed="rId5">
            <a:alphaModFix/>
          </a:blip>
          <a:srcRect b="0" l="0" r="0" t="0"/>
          <a:stretch/>
        </p:blipFill>
        <p:spPr>
          <a:xfrm>
            <a:off x="6096000" y="0"/>
            <a:ext cx="6096000" cy="6858000"/>
          </a:xfrm>
          <a:prstGeom prst="rect">
            <a:avLst/>
          </a:prstGeom>
          <a:noFill/>
          <a:ln>
            <a:noFill/>
          </a:ln>
        </p:spPr>
      </p:pic>
      <p:sp>
        <p:nvSpPr>
          <p:cNvPr id="257" name="Google Shape;257;p23"/>
          <p:cNvSpPr txBox="1"/>
          <p:nvPr/>
        </p:nvSpPr>
        <p:spPr>
          <a:xfrm>
            <a:off x="866775" y="1809750"/>
            <a:ext cx="4580572"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A84FF"/>
                </a:solidFill>
                <a:latin typeface="Inter SemiBold"/>
                <a:ea typeface="Inter SemiBold"/>
                <a:cs typeface="Inter SemiBold"/>
                <a:sym typeface="Inter SemiBold"/>
              </a:rPr>
              <a:t>Cloud-to-Edge AI</a:t>
            </a:r>
            <a:endParaRPr/>
          </a:p>
        </p:txBody>
      </p:sp>
      <p:sp>
        <p:nvSpPr>
          <p:cNvPr id="258" name="Google Shape;258;p23"/>
          <p:cNvSpPr txBox="1"/>
          <p:nvPr/>
        </p:nvSpPr>
        <p:spPr>
          <a:xfrm>
            <a:off x="866775" y="2276475"/>
            <a:ext cx="4362450" cy="2000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86868B"/>
                </a:solidFill>
                <a:latin typeface="Inter"/>
                <a:ea typeface="Inter"/>
                <a:cs typeface="Inter"/>
                <a:sym typeface="Inter"/>
              </a:rPr>
              <a:t>The architecture emphasizes decoupled microservices. A synthetic IoT generator acts as the edge device, publishing telemetric payloads. The central ML API processes these frames, executing feature engineering and inference, while the frontend dashboard subscribes to the prediction stream.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62" name="Shape 262"/>
        <p:cNvGrpSpPr/>
        <p:nvPr/>
      </p:nvGrpSpPr>
      <p:grpSpPr>
        <a:xfrm>
          <a:off x="0" y="0"/>
          <a:ext cx="0" cy="0"/>
          <a:chOff x="0" y="0"/>
          <a:chExt cx="0" cy="0"/>
        </a:xfrm>
      </p:grpSpPr>
      <p:pic>
        <p:nvPicPr>
          <p:cNvPr descr="image.png" id="263" name="Google Shape;263;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4" name="Google Shape;264;p24"/>
          <p:cNvPicPr preferRelativeResize="0"/>
          <p:nvPr/>
        </p:nvPicPr>
        <p:blipFill rotWithShape="1">
          <a:blip r:embed="rId4">
            <a:alphaModFix/>
          </a:blip>
          <a:srcRect b="0" l="0" r="0" t="0"/>
          <a:stretch/>
        </p:blipFill>
        <p:spPr>
          <a:xfrm>
            <a:off x="571500" y="1514475"/>
            <a:ext cx="3492549" cy="2867025"/>
          </a:xfrm>
          <a:prstGeom prst="rect">
            <a:avLst/>
          </a:prstGeom>
          <a:noFill/>
          <a:ln>
            <a:noFill/>
          </a:ln>
        </p:spPr>
      </p:pic>
      <p:pic>
        <p:nvPicPr>
          <p:cNvPr descr="image.png" id="265" name="Google Shape;265;p24"/>
          <p:cNvPicPr preferRelativeResize="0"/>
          <p:nvPr/>
        </p:nvPicPr>
        <p:blipFill rotWithShape="1">
          <a:blip r:embed="rId5">
            <a:alphaModFix/>
          </a:blip>
          <a:srcRect b="0" l="0" r="0" t="0"/>
          <a:stretch/>
        </p:blipFill>
        <p:spPr>
          <a:xfrm>
            <a:off x="4349799" y="1514475"/>
            <a:ext cx="3492549" cy="2867025"/>
          </a:xfrm>
          <a:prstGeom prst="rect">
            <a:avLst/>
          </a:prstGeom>
          <a:noFill/>
          <a:ln>
            <a:noFill/>
          </a:ln>
        </p:spPr>
      </p:pic>
      <p:pic>
        <p:nvPicPr>
          <p:cNvPr descr="image.png" id="266" name="Google Shape;266;p24"/>
          <p:cNvPicPr preferRelativeResize="0"/>
          <p:nvPr/>
        </p:nvPicPr>
        <p:blipFill rotWithShape="1">
          <a:blip r:embed="rId6">
            <a:alphaModFix/>
          </a:blip>
          <a:srcRect b="0" l="0" r="0" t="0"/>
          <a:stretch/>
        </p:blipFill>
        <p:spPr>
          <a:xfrm>
            <a:off x="8128099" y="1514475"/>
            <a:ext cx="3492549" cy="2867025"/>
          </a:xfrm>
          <a:prstGeom prst="rect">
            <a:avLst/>
          </a:prstGeom>
          <a:noFill/>
          <a:ln>
            <a:noFill/>
          </a:ln>
        </p:spPr>
      </p:pic>
      <p:sp>
        <p:nvSpPr>
          <p:cNvPr id="267" name="Google Shape;267;p24"/>
          <p:cNvSpPr txBox="1"/>
          <p:nvPr/>
        </p:nvSpPr>
        <p:spPr>
          <a:xfrm>
            <a:off x="866775"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Simulation Engine</a:t>
            </a:r>
            <a:endParaRPr/>
          </a:p>
        </p:txBody>
      </p:sp>
      <p:sp>
        <p:nvSpPr>
          <p:cNvPr id="268" name="Google Shape;268;p24"/>
          <p:cNvSpPr txBox="1"/>
          <p:nvPr/>
        </p:nvSpPr>
        <p:spPr>
          <a:xfrm>
            <a:off x="866775" y="2981325"/>
            <a:ext cx="2901999" cy="914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A mathematical model generating synthetic multivariate time-series data, mimicking industrial degradation curves and thermal dynamics.</a:t>
            </a:r>
            <a:endParaRPr/>
          </a:p>
        </p:txBody>
      </p:sp>
      <p:sp>
        <p:nvSpPr>
          <p:cNvPr id="269" name="Google Shape;269;p24"/>
          <p:cNvSpPr txBox="1"/>
          <p:nvPr/>
        </p:nvSpPr>
        <p:spPr>
          <a:xfrm>
            <a:off x="4645074"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Prediction API</a:t>
            </a:r>
            <a:endParaRPr/>
          </a:p>
        </p:txBody>
      </p:sp>
      <p:sp>
        <p:nvSpPr>
          <p:cNvPr id="270" name="Google Shape;270;p24"/>
          <p:cNvSpPr txBox="1"/>
          <p:nvPr/>
        </p:nvSpPr>
        <p:spPr>
          <a:xfrm>
            <a:off x="4645074" y="2981325"/>
            <a:ext cx="2901999" cy="914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The core inference module hosting the serialized Random Forest model. It handles incoming JSON payloads and outputs failure probabilities.</a:t>
            </a:r>
            <a:endParaRPr/>
          </a:p>
        </p:txBody>
      </p:sp>
      <p:sp>
        <p:nvSpPr>
          <p:cNvPr id="271" name="Google Shape;271;p24"/>
          <p:cNvSpPr txBox="1"/>
          <p:nvPr/>
        </p:nvSpPr>
        <p:spPr>
          <a:xfrm>
            <a:off x="8423374"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Digital Dashboard</a:t>
            </a:r>
            <a:endParaRPr/>
          </a:p>
        </p:txBody>
      </p:sp>
      <p:sp>
        <p:nvSpPr>
          <p:cNvPr id="272" name="Google Shape;272;p24"/>
          <p:cNvSpPr txBox="1"/>
          <p:nvPr/>
        </p:nvSpPr>
        <p:spPr>
          <a:xfrm>
            <a:off x="8423374" y="2981325"/>
            <a:ext cx="2901999" cy="914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A reactive web interface built using Streamlit and Plotly, providing real-time data visualization, gauges, and actionable maintenance alerts.</a:t>
            </a:r>
            <a:endParaRPr/>
          </a:p>
        </p:txBody>
      </p:sp>
      <p:pic>
        <p:nvPicPr>
          <p:cNvPr descr="image.png" id="273" name="Google Shape;273;p24"/>
          <p:cNvPicPr preferRelativeResize="0"/>
          <p:nvPr/>
        </p:nvPicPr>
        <p:blipFill rotWithShape="1">
          <a:blip r:embed="rId7">
            <a:alphaModFix/>
          </a:blip>
          <a:srcRect b="0" l="0" r="0" t="0"/>
          <a:stretch/>
        </p:blipFill>
        <p:spPr>
          <a:xfrm>
            <a:off x="866775" y="1895475"/>
            <a:ext cx="381000" cy="381000"/>
          </a:xfrm>
          <a:prstGeom prst="rect">
            <a:avLst/>
          </a:prstGeom>
          <a:noFill/>
          <a:ln>
            <a:noFill/>
          </a:ln>
        </p:spPr>
      </p:pic>
      <p:pic>
        <p:nvPicPr>
          <p:cNvPr descr="image.png" id="274" name="Google Shape;274;p24"/>
          <p:cNvPicPr preferRelativeResize="0"/>
          <p:nvPr/>
        </p:nvPicPr>
        <p:blipFill rotWithShape="1">
          <a:blip r:embed="rId8">
            <a:alphaModFix/>
          </a:blip>
          <a:srcRect b="0" l="0" r="0" t="0"/>
          <a:stretch/>
        </p:blipFill>
        <p:spPr>
          <a:xfrm>
            <a:off x="4645074" y="1895475"/>
            <a:ext cx="381000" cy="381000"/>
          </a:xfrm>
          <a:prstGeom prst="rect">
            <a:avLst/>
          </a:prstGeom>
          <a:noFill/>
          <a:ln>
            <a:noFill/>
          </a:ln>
        </p:spPr>
      </p:pic>
      <p:pic>
        <p:nvPicPr>
          <p:cNvPr descr="image.png" id="275" name="Google Shape;275;p24"/>
          <p:cNvPicPr preferRelativeResize="0"/>
          <p:nvPr/>
        </p:nvPicPr>
        <p:blipFill rotWithShape="1">
          <a:blip r:embed="rId9">
            <a:alphaModFix/>
          </a:blip>
          <a:srcRect b="0" l="0" r="0" t="0"/>
          <a:stretch/>
        </p:blipFill>
        <p:spPr>
          <a:xfrm>
            <a:off x="8423374" y="1895475"/>
            <a:ext cx="476250" cy="381000"/>
          </a:xfrm>
          <a:prstGeom prst="rect">
            <a:avLst/>
          </a:prstGeom>
          <a:noFill/>
          <a:ln>
            <a:noFill/>
          </a:ln>
        </p:spPr>
      </p:pic>
      <p:sp>
        <p:nvSpPr>
          <p:cNvPr id="276" name="Google Shape;276;p24"/>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Software Modules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0" name="Shape 280"/>
        <p:cNvGrpSpPr/>
        <p:nvPr/>
      </p:nvGrpSpPr>
      <p:grpSpPr>
        <a:xfrm>
          <a:off x="0" y="0"/>
          <a:ext cx="0" cy="0"/>
          <a:chOff x="0" y="0"/>
          <a:chExt cx="0" cy="0"/>
        </a:xfrm>
      </p:grpSpPr>
      <p:pic>
        <p:nvPicPr>
          <p:cNvPr descr="image.png" id="281" name="Google Shape;281;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82" name="Google Shape;282;p25"/>
          <p:cNvPicPr preferRelativeResize="0"/>
          <p:nvPr/>
        </p:nvPicPr>
        <p:blipFill rotWithShape="1">
          <a:blip r:embed="rId4">
            <a:alphaModFix/>
          </a:blip>
          <a:srcRect b="0" l="0" r="0" t="0"/>
          <a:stretch/>
        </p:blipFill>
        <p:spPr>
          <a:xfrm>
            <a:off x="571500" y="1514475"/>
            <a:ext cx="5629275" cy="4772025"/>
          </a:xfrm>
          <a:prstGeom prst="rect">
            <a:avLst/>
          </a:prstGeom>
          <a:noFill/>
          <a:ln>
            <a:noFill/>
          </a:ln>
        </p:spPr>
      </p:pic>
      <p:pic>
        <p:nvPicPr>
          <p:cNvPr descr="image.png" id="283" name="Google Shape;283;p25"/>
          <p:cNvPicPr preferRelativeResize="0"/>
          <p:nvPr/>
        </p:nvPicPr>
        <p:blipFill rotWithShape="1">
          <a:blip r:embed="rId5">
            <a:alphaModFix/>
          </a:blip>
          <a:srcRect b="0" l="0" r="0" t="0"/>
          <a:stretch/>
        </p:blipFill>
        <p:spPr>
          <a:xfrm>
            <a:off x="6581775" y="1514475"/>
            <a:ext cx="5038725" cy="4286250"/>
          </a:xfrm>
          <a:prstGeom prst="rect">
            <a:avLst/>
          </a:prstGeom>
          <a:noFill/>
          <a:ln>
            <a:noFill/>
          </a:ln>
        </p:spPr>
      </p:pic>
      <p:sp>
        <p:nvSpPr>
          <p:cNvPr id="284" name="Google Shape;284;p25"/>
          <p:cNvSpPr txBox="1"/>
          <p:nvPr/>
        </p:nvSpPr>
        <p:spPr>
          <a:xfrm>
            <a:off x="866775" y="1809750"/>
            <a:ext cx="5290661"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Telemetry Generation</a:t>
            </a:r>
            <a:endParaRPr/>
          </a:p>
        </p:txBody>
      </p:sp>
      <p:sp>
        <p:nvSpPr>
          <p:cNvPr id="285" name="Google Shape;285;p25"/>
          <p:cNvSpPr txBox="1"/>
          <p:nvPr/>
        </p:nvSpPr>
        <p:spPr>
          <a:xfrm>
            <a:off x="866775" y="2276475"/>
            <a:ext cx="5038725"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The Python simulation engine generates a continuous stream of critical machine parameters. The engine uses stochastic processes (random walk with drift) to model gradual wear and tear.</a:t>
            </a:r>
            <a:endParaRPr/>
          </a:p>
        </p:txBody>
      </p:sp>
      <p:pic>
        <p:nvPicPr>
          <p:cNvPr descr="image.png" id="286" name="Google Shape;286;p25"/>
          <p:cNvPicPr preferRelativeResize="0"/>
          <p:nvPr/>
        </p:nvPicPr>
        <p:blipFill rotWithShape="1">
          <a:blip r:embed="rId6">
            <a:alphaModFix/>
          </a:blip>
          <a:srcRect b="0" l="0" r="0" t="0"/>
          <a:stretch/>
        </p:blipFill>
        <p:spPr>
          <a:xfrm>
            <a:off x="6591300" y="1524000"/>
            <a:ext cx="5019675" cy="4267200"/>
          </a:xfrm>
          <a:prstGeom prst="rect">
            <a:avLst/>
          </a:prstGeom>
          <a:noFill/>
          <a:ln>
            <a:noFill/>
          </a:ln>
        </p:spPr>
      </p:pic>
      <p:sp>
        <p:nvSpPr>
          <p:cNvPr id="287" name="Google Shape;287;p25"/>
          <p:cNvSpPr txBox="1"/>
          <p:nvPr/>
        </p:nvSpPr>
        <p:spPr>
          <a:xfrm>
            <a:off x="1152525" y="3495675"/>
            <a:ext cx="475297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86868B"/>
                </a:solidFill>
                <a:latin typeface="Inter"/>
                <a:ea typeface="Inter"/>
                <a:cs typeface="Inter"/>
                <a:sym typeface="Inter"/>
              </a:rPr>
              <a:t>Temperature:</a:t>
            </a:r>
            <a:r>
              <a:rPr b="0" i="0" lang="en-US" sz="1350" u="none" cap="none" strike="noStrike">
                <a:solidFill>
                  <a:srgbClr val="86868B"/>
                </a:solidFill>
                <a:latin typeface="Inter"/>
                <a:ea typeface="Inter"/>
                <a:cs typeface="Inter"/>
                <a:sym typeface="Inter"/>
              </a:rPr>
              <a:t> Simulates thermal expansion and friction.</a:t>
            </a:r>
            <a:endParaRPr/>
          </a:p>
        </p:txBody>
      </p:sp>
      <p:sp>
        <p:nvSpPr>
          <p:cNvPr id="288" name="Google Shape;288;p25"/>
          <p:cNvSpPr txBox="1"/>
          <p:nvPr/>
        </p:nvSpPr>
        <p:spPr>
          <a:xfrm>
            <a:off x="1152525" y="3895725"/>
            <a:ext cx="475297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86868B"/>
                </a:solidFill>
                <a:latin typeface="Inter"/>
                <a:ea typeface="Inter"/>
                <a:cs typeface="Inter"/>
                <a:sym typeface="Inter"/>
              </a:rPr>
              <a:t>RPM (Speed):</a:t>
            </a:r>
            <a:r>
              <a:rPr b="0" i="0" lang="en-US" sz="1350" u="none" cap="none" strike="noStrike">
                <a:solidFill>
                  <a:srgbClr val="86868B"/>
                </a:solidFill>
                <a:latin typeface="Inter"/>
                <a:ea typeface="Inter"/>
                <a:cs typeface="Inter"/>
                <a:sym typeface="Inter"/>
              </a:rPr>
              <a:t> Monitors motor stability and load.</a:t>
            </a:r>
            <a:endParaRPr/>
          </a:p>
        </p:txBody>
      </p:sp>
      <p:sp>
        <p:nvSpPr>
          <p:cNvPr id="289" name="Google Shape;289;p25"/>
          <p:cNvSpPr txBox="1"/>
          <p:nvPr/>
        </p:nvSpPr>
        <p:spPr>
          <a:xfrm>
            <a:off x="1152525" y="4295775"/>
            <a:ext cx="475297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86868B"/>
                </a:solidFill>
                <a:latin typeface="Inter"/>
                <a:ea typeface="Inter"/>
                <a:cs typeface="Inter"/>
                <a:sym typeface="Inter"/>
              </a:rPr>
              <a:t>Vibration:</a:t>
            </a:r>
            <a:r>
              <a:rPr b="0" i="0" lang="en-US" sz="1350" u="none" cap="none" strike="noStrike">
                <a:solidFill>
                  <a:srgbClr val="86868B"/>
                </a:solidFill>
                <a:latin typeface="Inter"/>
                <a:ea typeface="Inter"/>
                <a:cs typeface="Inter"/>
                <a:sym typeface="Inter"/>
              </a:rPr>
              <a:t> The primary indicator of bearing wear.</a:t>
            </a:r>
            <a:endParaRPr/>
          </a:p>
        </p:txBody>
      </p:sp>
      <p:sp>
        <p:nvSpPr>
          <p:cNvPr id="290" name="Google Shape;290;p25"/>
          <p:cNvSpPr txBox="1"/>
          <p:nvPr/>
        </p:nvSpPr>
        <p:spPr>
          <a:xfrm>
            <a:off x="1152525" y="4695825"/>
            <a:ext cx="475297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86868B"/>
                </a:solidFill>
                <a:latin typeface="Inter"/>
                <a:ea typeface="Inter"/>
                <a:cs typeface="Inter"/>
                <a:sym typeface="Inter"/>
              </a:rPr>
              <a:t>Pressure:</a:t>
            </a:r>
            <a:r>
              <a:rPr b="0" i="0" lang="en-US" sz="1350" u="none" cap="none" strike="noStrike">
                <a:solidFill>
                  <a:srgbClr val="86868B"/>
                </a:solidFill>
                <a:latin typeface="Inter"/>
                <a:ea typeface="Inter"/>
                <a:cs typeface="Inter"/>
                <a:sym typeface="Inter"/>
              </a:rPr>
              <a:t> Tracks hydraulic system integrity.</a:t>
            </a:r>
            <a:endParaRPr/>
          </a:p>
        </p:txBody>
      </p:sp>
      <p:sp>
        <p:nvSpPr>
          <p:cNvPr id="291" name="Google Shape;291;p25"/>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Machine Simulation</a:t>
            </a:r>
            <a:endParaRPr/>
          </a:p>
        </p:txBody>
      </p:sp>
      <p:pic>
        <p:nvPicPr>
          <p:cNvPr descr="image.png" id="292" name="Google Shape;292;p25"/>
          <p:cNvPicPr preferRelativeResize="0"/>
          <p:nvPr/>
        </p:nvPicPr>
        <p:blipFill rotWithShape="1">
          <a:blip r:embed="rId7">
            <a:alphaModFix/>
          </a:blip>
          <a:srcRect b="0" l="0" r="0" t="0"/>
          <a:stretch/>
        </p:blipFill>
        <p:spPr>
          <a:xfrm>
            <a:off x="866775" y="3533775"/>
            <a:ext cx="76200" cy="76200"/>
          </a:xfrm>
          <a:prstGeom prst="rect">
            <a:avLst/>
          </a:prstGeom>
          <a:noFill/>
          <a:ln>
            <a:noFill/>
          </a:ln>
        </p:spPr>
      </p:pic>
      <p:pic>
        <p:nvPicPr>
          <p:cNvPr descr="image.png" id="293" name="Google Shape;293;p25"/>
          <p:cNvPicPr preferRelativeResize="0"/>
          <p:nvPr/>
        </p:nvPicPr>
        <p:blipFill rotWithShape="1">
          <a:blip r:embed="rId7">
            <a:alphaModFix/>
          </a:blip>
          <a:srcRect b="0" l="0" r="0" t="0"/>
          <a:stretch/>
        </p:blipFill>
        <p:spPr>
          <a:xfrm>
            <a:off x="866775" y="3933825"/>
            <a:ext cx="76200" cy="76200"/>
          </a:xfrm>
          <a:prstGeom prst="rect">
            <a:avLst/>
          </a:prstGeom>
          <a:noFill/>
          <a:ln>
            <a:noFill/>
          </a:ln>
        </p:spPr>
      </p:pic>
      <p:pic>
        <p:nvPicPr>
          <p:cNvPr descr="image.png" id="294" name="Google Shape;294;p25"/>
          <p:cNvPicPr preferRelativeResize="0"/>
          <p:nvPr/>
        </p:nvPicPr>
        <p:blipFill rotWithShape="1">
          <a:blip r:embed="rId7">
            <a:alphaModFix/>
          </a:blip>
          <a:srcRect b="0" l="0" r="0" t="0"/>
          <a:stretch/>
        </p:blipFill>
        <p:spPr>
          <a:xfrm>
            <a:off x="866775" y="4333875"/>
            <a:ext cx="76200" cy="76200"/>
          </a:xfrm>
          <a:prstGeom prst="rect">
            <a:avLst/>
          </a:prstGeom>
          <a:noFill/>
          <a:ln>
            <a:noFill/>
          </a:ln>
        </p:spPr>
      </p:pic>
      <p:pic>
        <p:nvPicPr>
          <p:cNvPr descr="image.png" id="295" name="Google Shape;295;p25"/>
          <p:cNvPicPr preferRelativeResize="0"/>
          <p:nvPr/>
        </p:nvPicPr>
        <p:blipFill rotWithShape="1">
          <a:blip r:embed="rId7">
            <a:alphaModFix/>
          </a:blip>
          <a:srcRect b="0" l="0" r="0" t="0"/>
          <a:stretch/>
        </p:blipFill>
        <p:spPr>
          <a:xfrm>
            <a:off x="866775" y="4733925"/>
            <a:ext cx="76200" cy="76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99" name="Shape 299"/>
        <p:cNvGrpSpPr/>
        <p:nvPr/>
      </p:nvGrpSpPr>
      <p:grpSpPr>
        <a:xfrm>
          <a:off x="0" y="0"/>
          <a:ext cx="0" cy="0"/>
          <a:chOff x="0" y="0"/>
          <a:chExt cx="0" cy="0"/>
        </a:xfrm>
      </p:grpSpPr>
      <p:pic>
        <p:nvPicPr>
          <p:cNvPr descr="image.png" id="300" name="Google Shape;300;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01" name="Google Shape;301;p26"/>
          <p:cNvPicPr preferRelativeResize="0"/>
          <p:nvPr/>
        </p:nvPicPr>
        <p:blipFill rotWithShape="1">
          <a:blip r:embed="rId4">
            <a:alphaModFix/>
          </a:blip>
          <a:srcRect b="0" l="0" r="0" t="0"/>
          <a:stretch/>
        </p:blipFill>
        <p:spPr>
          <a:xfrm>
            <a:off x="571500" y="1514475"/>
            <a:ext cx="11049000" cy="3895725"/>
          </a:xfrm>
          <a:prstGeom prst="rect">
            <a:avLst/>
          </a:prstGeom>
          <a:noFill/>
          <a:ln>
            <a:noFill/>
          </a:ln>
        </p:spPr>
      </p:pic>
      <p:graphicFrame>
        <p:nvGraphicFramePr>
          <p:cNvPr id="302" name="Google Shape;302;p26"/>
          <p:cNvGraphicFramePr/>
          <p:nvPr/>
        </p:nvGraphicFramePr>
        <p:xfrm>
          <a:off x="581025" y="1524000"/>
          <a:ext cx="3000000" cy="3000000"/>
        </p:xfrm>
        <a:graphic>
          <a:graphicData uri="http://schemas.openxmlformats.org/drawingml/2006/table">
            <a:tbl>
              <a:tblPr bandRow="1" firstRow="1">
                <a:noFill/>
                <a:tableStyleId>{6F9C5976-7210-444F-B886-9E39473210ED}</a:tableStyleId>
              </a:tblPr>
              <a:tblGrid>
                <a:gridCol w="2743200"/>
                <a:gridCol w="1725800"/>
                <a:gridCol w="1508675"/>
                <a:gridCol w="5052275"/>
              </a:tblGrid>
              <a:tr h="646100">
                <a:tc>
                  <a:txBody>
                    <a:bodyPr/>
                    <a:lstStyle/>
                    <a:p>
                      <a:pPr indent="0" lvl="0" marL="0" marR="0" rtl="0" algn="l">
                        <a:spcBef>
                          <a:spcPts val="0"/>
                        </a:spcBef>
                        <a:spcAft>
                          <a:spcPts val="0"/>
                        </a:spcAft>
                        <a:buNone/>
                      </a:pPr>
                      <a:r>
                        <a:rPr b="0" i="0" lang="en-US" sz="1350" u="none" cap="none" strike="noStrike">
                          <a:solidFill>
                            <a:srgbClr val="F5F5F7"/>
                          </a:solidFill>
                          <a:latin typeface="Inter SemiBold"/>
                          <a:ea typeface="Inter SemiBold"/>
                          <a:cs typeface="Inter SemiBold"/>
                          <a:sym typeface="Inter SemiBold"/>
                        </a:rPr>
                        <a:t>Feature Name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350" u="none" cap="none" strike="noStrike">
                          <a:solidFill>
                            <a:srgbClr val="F5F5F7"/>
                          </a:solidFill>
                          <a:latin typeface="Inter SemiBold"/>
                          <a:ea typeface="Inter SemiBold"/>
                          <a:cs typeface="Inter SemiBold"/>
                          <a:sym typeface="Inter SemiBold"/>
                        </a:rPr>
                        <a:t>Data Type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350" u="none" cap="none" strike="noStrike">
                          <a:solidFill>
                            <a:srgbClr val="F5F5F7"/>
                          </a:solidFill>
                          <a:latin typeface="Inter SemiBold"/>
                          <a:ea typeface="Inter SemiBold"/>
                          <a:cs typeface="Inter SemiBold"/>
                          <a:sym typeface="Inter SemiBold"/>
                        </a:rPr>
                        <a:t>Unit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350" u="none" cap="none" strike="noStrike">
                          <a:solidFill>
                            <a:srgbClr val="F5F5F7"/>
                          </a:solidFill>
                          <a:latin typeface="Inter SemiBold"/>
                          <a:ea typeface="Inter SemiBold"/>
                          <a:cs typeface="Inter SemiBold"/>
                          <a:sym typeface="Inter SemiBold"/>
                        </a:rPr>
                        <a:t>Description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646100">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Air_Temperature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Float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Kelvin (K)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Ambient temperature near the machine.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6100">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Process_Temperature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Float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Kelvin (K)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Internal operating temperature of the spindle.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6100">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Rotational_Speed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Integer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RPM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Speed of the main motor drive.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6100">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Torque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Float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Nm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86868B"/>
                          </a:solidFill>
                          <a:latin typeface="Inter"/>
                          <a:ea typeface="Inter"/>
                          <a:cs typeface="Inter"/>
                          <a:sym typeface="Inter"/>
                        </a:rPr>
                        <a:t>Rotational force applied by the machine.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46125">
                <a:tc>
                  <a:txBody>
                    <a:bodyPr/>
                    <a:lstStyle/>
                    <a:p>
                      <a:pPr indent="0" lvl="0" marL="0" marR="0" rtl="0" algn="l">
                        <a:spcBef>
                          <a:spcPts val="0"/>
                        </a:spcBef>
                        <a:spcAft>
                          <a:spcPts val="0"/>
                        </a:spcAft>
                        <a:buNone/>
                      </a:pPr>
                      <a:r>
                        <a:rPr b="1" i="0" lang="en-US" sz="1350" u="none" cap="none" strike="noStrike">
                          <a:solidFill>
                            <a:srgbClr val="86868B"/>
                          </a:solidFill>
                          <a:latin typeface="Inter"/>
                          <a:ea typeface="Inter"/>
                          <a:cs typeface="Inter"/>
                          <a:sym typeface="Inter"/>
                        </a:rPr>
                        <a:t>Machine_Failure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453A"/>
                    </a:solidFill>
                  </a:tcPr>
                </a:tc>
                <a:tc>
                  <a:txBody>
                    <a:bodyPr/>
                    <a:lstStyle/>
                    <a:p>
                      <a:pPr indent="0" lvl="0" marL="0" marR="0" rtl="0" algn="l">
                        <a:spcBef>
                          <a:spcPts val="0"/>
                        </a:spcBef>
                        <a:spcAft>
                          <a:spcPts val="0"/>
                        </a:spcAft>
                        <a:buNone/>
                      </a:pPr>
                      <a:r>
                        <a:rPr b="1" i="0" lang="en-US" sz="1350" u="none" cap="none" strike="noStrike">
                          <a:solidFill>
                            <a:srgbClr val="86868B"/>
                          </a:solidFill>
                          <a:latin typeface="Inter"/>
                          <a:ea typeface="Inter"/>
                          <a:cs typeface="Inter"/>
                          <a:sym typeface="Inter"/>
                        </a:rPr>
                        <a:t>Binary (0/1)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453A"/>
                    </a:solidFill>
                  </a:tcPr>
                </a:tc>
                <a:tc>
                  <a:txBody>
                    <a:bodyPr/>
                    <a:lstStyle/>
                    <a:p>
                      <a:pPr indent="0" lvl="0" marL="0" marR="0" rtl="0" algn="l">
                        <a:spcBef>
                          <a:spcPts val="0"/>
                        </a:spcBef>
                        <a:spcAft>
                          <a:spcPts val="0"/>
                        </a:spcAft>
                        <a:buNone/>
                      </a:pPr>
                      <a:r>
                        <a:rPr b="1" i="0" lang="en-US" sz="1350" u="none" cap="none" strike="noStrike">
                          <a:solidFill>
                            <a:srgbClr val="86868B"/>
                          </a:solidFill>
                          <a:latin typeface="Inter"/>
                          <a:ea typeface="Inter"/>
                          <a:cs typeface="Inter"/>
                          <a:sym typeface="Inter"/>
                        </a:rPr>
                        <a:t>Boolean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453A"/>
                    </a:solidFill>
                  </a:tcPr>
                </a:tc>
                <a:tc>
                  <a:txBody>
                    <a:bodyPr/>
                    <a:lstStyle/>
                    <a:p>
                      <a:pPr indent="0" lvl="0" marL="0" marR="0" rtl="0" algn="l">
                        <a:spcBef>
                          <a:spcPts val="0"/>
                        </a:spcBef>
                        <a:spcAft>
                          <a:spcPts val="0"/>
                        </a:spcAft>
                        <a:buNone/>
                      </a:pPr>
                      <a:r>
                        <a:rPr b="1" i="0" lang="en-US" sz="1350" u="none" cap="none" strike="noStrike">
                          <a:solidFill>
                            <a:srgbClr val="86868B"/>
                          </a:solidFill>
                          <a:latin typeface="Inter"/>
                          <a:ea typeface="Inter"/>
                          <a:cs typeface="Inter"/>
                          <a:sym typeface="Inter"/>
                        </a:rPr>
                        <a:t>Target Variable: Indicates if failure occurred.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453A"/>
                    </a:solidFill>
                  </a:tcPr>
                </a:tc>
              </a:tr>
            </a:tbl>
          </a:graphicData>
        </a:graphic>
      </p:graphicFrame>
      <p:sp>
        <p:nvSpPr>
          <p:cNvPr id="303" name="Google Shape;303;p26"/>
          <p:cNvSpPr/>
          <p:nvPr/>
        </p:nvSpPr>
        <p:spPr>
          <a:xfrm>
            <a:off x="581025" y="2157412"/>
            <a:ext cx="27432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26"/>
          <p:cNvSpPr/>
          <p:nvPr/>
        </p:nvSpPr>
        <p:spPr>
          <a:xfrm>
            <a:off x="3324225" y="2157412"/>
            <a:ext cx="172581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26"/>
          <p:cNvSpPr/>
          <p:nvPr/>
        </p:nvSpPr>
        <p:spPr>
          <a:xfrm>
            <a:off x="5050035" y="2157412"/>
            <a:ext cx="150867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26"/>
          <p:cNvSpPr/>
          <p:nvPr/>
        </p:nvSpPr>
        <p:spPr>
          <a:xfrm>
            <a:off x="6558706" y="2157412"/>
            <a:ext cx="505226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26"/>
          <p:cNvSpPr/>
          <p:nvPr/>
        </p:nvSpPr>
        <p:spPr>
          <a:xfrm>
            <a:off x="581025" y="2805112"/>
            <a:ext cx="27432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26"/>
          <p:cNvSpPr/>
          <p:nvPr/>
        </p:nvSpPr>
        <p:spPr>
          <a:xfrm>
            <a:off x="3324225" y="2805112"/>
            <a:ext cx="172581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26"/>
          <p:cNvSpPr/>
          <p:nvPr/>
        </p:nvSpPr>
        <p:spPr>
          <a:xfrm>
            <a:off x="5050035" y="2805112"/>
            <a:ext cx="150867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26"/>
          <p:cNvSpPr/>
          <p:nvPr/>
        </p:nvSpPr>
        <p:spPr>
          <a:xfrm>
            <a:off x="6558706" y="2805112"/>
            <a:ext cx="505226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26"/>
          <p:cNvSpPr/>
          <p:nvPr/>
        </p:nvSpPr>
        <p:spPr>
          <a:xfrm>
            <a:off x="581025" y="3452812"/>
            <a:ext cx="27432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26"/>
          <p:cNvSpPr/>
          <p:nvPr/>
        </p:nvSpPr>
        <p:spPr>
          <a:xfrm>
            <a:off x="3324225" y="3452812"/>
            <a:ext cx="172581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26"/>
          <p:cNvSpPr/>
          <p:nvPr/>
        </p:nvSpPr>
        <p:spPr>
          <a:xfrm>
            <a:off x="5050035" y="3452812"/>
            <a:ext cx="150867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26"/>
          <p:cNvSpPr/>
          <p:nvPr/>
        </p:nvSpPr>
        <p:spPr>
          <a:xfrm>
            <a:off x="6558706" y="3452812"/>
            <a:ext cx="505226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5" name="Google Shape;315;p26"/>
          <p:cNvSpPr/>
          <p:nvPr/>
        </p:nvSpPr>
        <p:spPr>
          <a:xfrm>
            <a:off x="581025" y="4100512"/>
            <a:ext cx="27432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26"/>
          <p:cNvSpPr/>
          <p:nvPr/>
        </p:nvSpPr>
        <p:spPr>
          <a:xfrm>
            <a:off x="3324225" y="4100512"/>
            <a:ext cx="172581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26"/>
          <p:cNvSpPr/>
          <p:nvPr/>
        </p:nvSpPr>
        <p:spPr>
          <a:xfrm>
            <a:off x="5050035" y="4100512"/>
            <a:ext cx="150867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8" name="Google Shape;318;p26"/>
          <p:cNvSpPr/>
          <p:nvPr/>
        </p:nvSpPr>
        <p:spPr>
          <a:xfrm>
            <a:off x="6558706" y="4100512"/>
            <a:ext cx="505226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6"/>
          <p:cNvSpPr/>
          <p:nvPr/>
        </p:nvSpPr>
        <p:spPr>
          <a:xfrm>
            <a:off x="581025" y="4748212"/>
            <a:ext cx="27432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26"/>
          <p:cNvSpPr/>
          <p:nvPr/>
        </p:nvSpPr>
        <p:spPr>
          <a:xfrm>
            <a:off x="3324225" y="4748212"/>
            <a:ext cx="172581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26"/>
          <p:cNvSpPr/>
          <p:nvPr/>
        </p:nvSpPr>
        <p:spPr>
          <a:xfrm>
            <a:off x="5050035" y="4748212"/>
            <a:ext cx="150867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p26"/>
          <p:cNvSpPr/>
          <p:nvPr/>
        </p:nvSpPr>
        <p:spPr>
          <a:xfrm>
            <a:off x="6558706" y="4748212"/>
            <a:ext cx="505226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3" name="Google Shape;323;p26"/>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Dataset Parameters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27" name="Shape 327"/>
        <p:cNvGrpSpPr/>
        <p:nvPr/>
      </p:nvGrpSpPr>
      <p:grpSpPr>
        <a:xfrm>
          <a:off x="0" y="0"/>
          <a:ext cx="0" cy="0"/>
          <a:chOff x="0" y="0"/>
          <a:chExt cx="0" cy="0"/>
        </a:xfrm>
      </p:grpSpPr>
      <p:pic>
        <p:nvPicPr>
          <p:cNvPr descr="image.png" id="328" name="Google Shape;328;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29" name="Google Shape;329;p27"/>
          <p:cNvPicPr preferRelativeResize="0"/>
          <p:nvPr/>
        </p:nvPicPr>
        <p:blipFill rotWithShape="1">
          <a:blip r:embed="rId4">
            <a:alphaModFix/>
          </a:blip>
          <a:srcRect b="0" l="0" r="0" t="0"/>
          <a:stretch/>
        </p:blipFill>
        <p:spPr>
          <a:xfrm>
            <a:off x="5991225" y="1514475"/>
            <a:ext cx="5629275" cy="4905375"/>
          </a:xfrm>
          <a:prstGeom prst="rect">
            <a:avLst/>
          </a:prstGeom>
          <a:noFill/>
          <a:ln>
            <a:noFill/>
          </a:ln>
        </p:spPr>
      </p:pic>
      <p:pic>
        <p:nvPicPr>
          <p:cNvPr descr="image.png" id="330" name="Google Shape;330;p27"/>
          <p:cNvPicPr preferRelativeResize="0"/>
          <p:nvPr/>
        </p:nvPicPr>
        <p:blipFill rotWithShape="1">
          <a:blip r:embed="rId5">
            <a:alphaModFix/>
          </a:blip>
          <a:srcRect b="0" l="0" r="0" t="0"/>
          <a:stretch/>
        </p:blipFill>
        <p:spPr>
          <a:xfrm>
            <a:off x="571500" y="1514475"/>
            <a:ext cx="5038725" cy="4286250"/>
          </a:xfrm>
          <a:prstGeom prst="rect">
            <a:avLst/>
          </a:prstGeom>
          <a:noFill/>
          <a:ln>
            <a:noFill/>
          </a:ln>
        </p:spPr>
      </p:pic>
      <p:sp>
        <p:nvSpPr>
          <p:cNvPr id="331" name="Google Shape;331;p27"/>
          <p:cNvSpPr txBox="1"/>
          <p:nvPr/>
        </p:nvSpPr>
        <p:spPr>
          <a:xfrm>
            <a:off x="6286500" y="1809750"/>
            <a:ext cx="5290661"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Refining the Raw Data</a:t>
            </a:r>
            <a:endParaRPr/>
          </a:p>
        </p:txBody>
      </p:sp>
      <p:sp>
        <p:nvSpPr>
          <p:cNvPr id="332" name="Google Shape;332;p27"/>
          <p:cNvSpPr txBox="1"/>
          <p:nvPr/>
        </p:nvSpPr>
        <p:spPr>
          <a:xfrm>
            <a:off x="6286500" y="2276475"/>
            <a:ext cx="503872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Raw sensor data is inherently noisy and requires rigorous preprocessing before model ingestion.</a:t>
            </a:r>
            <a:endParaRPr/>
          </a:p>
        </p:txBody>
      </p:sp>
      <p:pic>
        <p:nvPicPr>
          <p:cNvPr descr="image.png" id="333" name="Google Shape;333;p27"/>
          <p:cNvPicPr preferRelativeResize="0"/>
          <p:nvPr/>
        </p:nvPicPr>
        <p:blipFill rotWithShape="1">
          <a:blip r:embed="rId6">
            <a:alphaModFix/>
          </a:blip>
          <a:srcRect b="0" l="0" r="0" t="0"/>
          <a:stretch/>
        </p:blipFill>
        <p:spPr>
          <a:xfrm>
            <a:off x="581025" y="1524000"/>
            <a:ext cx="5019675" cy="4267200"/>
          </a:xfrm>
          <a:prstGeom prst="rect">
            <a:avLst/>
          </a:prstGeom>
          <a:noFill/>
          <a:ln>
            <a:noFill/>
          </a:ln>
        </p:spPr>
      </p:pic>
      <p:sp>
        <p:nvSpPr>
          <p:cNvPr id="334" name="Google Shape;334;p27"/>
          <p:cNvSpPr txBox="1"/>
          <p:nvPr/>
        </p:nvSpPr>
        <p:spPr>
          <a:xfrm>
            <a:off x="6572250" y="2981325"/>
            <a:ext cx="47529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86868B"/>
                </a:solidFill>
                <a:latin typeface="Inter"/>
                <a:ea typeface="Inter"/>
                <a:cs typeface="Inter"/>
                <a:sym typeface="Inter"/>
              </a:rPr>
              <a:t>Handling Missing Values:</a:t>
            </a:r>
            <a:r>
              <a:rPr b="0" i="0" lang="en-US" sz="1350" u="none" cap="none" strike="noStrike">
                <a:solidFill>
                  <a:srgbClr val="86868B"/>
                </a:solidFill>
                <a:latin typeface="Inter"/>
                <a:ea typeface="Inter"/>
                <a:cs typeface="Inter"/>
                <a:sym typeface="Inter"/>
              </a:rPr>
              <a:t> Imputation techniques ensure continuity in the time-series data.</a:t>
            </a:r>
            <a:endParaRPr/>
          </a:p>
        </p:txBody>
      </p:sp>
      <p:sp>
        <p:nvSpPr>
          <p:cNvPr id="335" name="Google Shape;335;p27"/>
          <p:cNvSpPr txBox="1"/>
          <p:nvPr/>
        </p:nvSpPr>
        <p:spPr>
          <a:xfrm>
            <a:off x="6572250" y="3638550"/>
            <a:ext cx="475297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86868B"/>
                </a:solidFill>
                <a:latin typeface="Inter"/>
                <a:ea typeface="Inter"/>
                <a:cs typeface="Inter"/>
                <a:sym typeface="Inter"/>
              </a:rPr>
              <a:t>Standardization:</a:t>
            </a:r>
            <a:r>
              <a:rPr b="0" i="0" lang="en-US" sz="1350" u="none" cap="none" strike="noStrike">
                <a:solidFill>
                  <a:srgbClr val="86868B"/>
                </a:solidFill>
                <a:latin typeface="Inter"/>
                <a:ea typeface="Inter"/>
                <a:cs typeface="Inter"/>
                <a:sym typeface="Inter"/>
              </a:rPr>
              <a:t> Features like RPM (thousands) and Torque (tens) are scaled using StandardScaler to prevent gradient dominance.</a:t>
            </a:r>
            <a:endParaRPr/>
          </a:p>
        </p:txBody>
      </p:sp>
      <p:sp>
        <p:nvSpPr>
          <p:cNvPr id="336" name="Google Shape;336;p27"/>
          <p:cNvSpPr txBox="1"/>
          <p:nvPr/>
        </p:nvSpPr>
        <p:spPr>
          <a:xfrm>
            <a:off x="6572250" y="4552950"/>
            <a:ext cx="475297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86868B"/>
                </a:solidFill>
                <a:latin typeface="Inter"/>
                <a:ea typeface="Inter"/>
                <a:cs typeface="Inter"/>
                <a:sym typeface="Inter"/>
              </a:rPr>
              <a:t>Feature Engineering:</a:t>
            </a:r>
            <a:r>
              <a:rPr b="0" i="0" lang="en-US" sz="1350" u="none" cap="none" strike="noStrike">
                <a:solidFill>
                  <a:srgbClr val="86868B"/>
                </a:solidFill>
                <a:latin typeface="Inter"/>
                <a:ea typeface="Inter"/>
                <a:cs typeface="Inter"/>
                <a:sym typeface="Inter"/>
              </a:rPr>
              <a:t> Calculating 'Temperature Difference' (Process minus Air) as a derived feature highly correlated with failure.</a:t>
            </a:r>
            <a:endParaRPr/>
          </a:p>
        </p:txBody>
      </p:sp>
      <p:sp>
        <p:nvSpPr>
          <p:cNvPr id="337" name="Google Shape;337;p27"/>
          <p:cNvSpPr txBox="1"/>
          <p:nvPr/>
        </p:nvSpPr>
        <p:spPr>
          <a:xfrm>
            <a:off x="6572250" y="5467350"/>
            <a:ext cx="47529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86868B"/>
                </a:solidFill>
                <a:latin typeface="Inter"/>
                <a:ea typeface="Inter"/>
                <a:cs typeface="Inter"/>
                <a:sym typeface="Inter"/>
              </a:rPr>
              <a:t>Class Balancing:</a:t>
            </a:r>
            <a:r>
              <a:rPr b="0" i="0" lang="en-US" sz="1350" u="none" cap="none" strike="noStrike">
                <a:solidFill>
                  <a:srgbClr val="86868B"/>
                </a:solidFill>
                <a:latin typeface="Inter"/>
                <a:ea typeface="Inter"/>
                <a:cs typeface="Inter"/>
                <a:sym typeface="Inter"/>
              </a:rPr>
              <a:t> Using SMOTE to handle the severe class imbalance (failures are rare events).</a:t>
            </a:r>
            <a:endParaRPr/>
          </a:p>
        </p:txBody>
      </p:sp>
      <p:sp>
        <p:nvSpPr>
          <p:cNvPr id="338" name="Google Shape;338;p27"/>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Data Preprocessing</a:t>
            </a:r>
            <a:endParaRPr/>
          </a:p>
        </p:txBody>
      </p:sp>
      <p:pic>
        <p:nvPicPr>
          <p:cNvPr descr="image.png" id="339" name="Google Shape;339;p27"/>
          <p:cNvPicPr preferRelativeResize="0"/>
          <p:nvPr/>
        </p:nvPicPr>
        <p:blipFill rotWithShape="1">
          <a:blip r:embed="rId7">
            <a:alphaModFix/>
          </a:blip>
          <a:srcRect b="0" l="0" r="0" t="0"/>
          <a:stretch/>
        </p:blipFill>
        <p:spPr>
          <a:xfrm>
            <a:off x="6286500" y="3019425"/>
            <a:ext cx="76200" cy="76200"/>
          </a:xfrm>
          <a:prstGeom prst="rect">
            <a:avLst/>
          </a:prstGeom>
          <a:noFill/>
          <a:ln>
            <a:noFill/>
          </a:ln>
        </p:spPr>
      </p:pic>
      <p:pic>
        <p:nvPicPr>
          <p:cNvPr descr="image.png" id="340" name="Google Shape;340;p27"/>
          <p:cNvPicPr preferRelativeResize="0"/>
          <p:nvPr/>
        </p:nvPicPr>
        <p:blipFill rotWithShape="1">
          <a:blip r:embed="rId7">
            <a:alphaModFix/>
          </a:blip>
          <a:srcRect b="0" l="0" r="0" t="0"/>
          <a:stretch/>
        </p:blipFill>
        <p:spPr>
          <a:xfrm>
            <a:off x="6286500" y="3676650"/>
            <a:ext cx="76200" cy="76200"/>
          </a:xfrm>
          <a:prstGeom prst="rect">
            <a:avLst/>
          </a:prstGeom>
          <a:noFill/>
          <a:ln>
            <a:noFill/>
          </a:ln>
        </p:spPr>
      </p:pic>
      <p:pic>
        <p:nvPicPr>
          <p:cNvPr descr="image.png" id="341" name="Google Shape;341;p27"/>
          <p:cNvPicPr preferRelativeResize="0"/>
          <p:nvPr/>
        </p:nvPicPr>
        <p:blipFill rotWithShape="1">
          <a:blip r:embed="rId7">
            <a:alphaModFix/>
          </a:blip>
          <a:srcRect b="0" l="0" r="0" t="0"/>
          <a:stretch/>
        </p:blipFill>
        <p:spPr>
          <a:xfrm>
            <a:off x="6286500" y="4591050"/>
            <a:ext cx="76200" cy="76200"/>
          </a:xfrm>
          <a:prstGeom prst="rect">
            <a:avLst/>
          </a:prstGeom>
          <a:noFill/>
          <a:ln>
            <a:noFill/>
          </a:ln>
        </p:spPr>
      </p:pic>
      <p:pic>
        <p:nvPicPr>
          <p:cNvPr descr="image.png" id="342" name="Google Shape;342;p27"/>
          <p:cNvPicPr preferRelativeResize="0"/>
          <p:nvPr/>
        </p:nvPicPr>
        <p:blipFill rotWithShape="1">
          <a:blip r:embed="rId7">
            <a:alphaModFix/>
          </a:blip>
          <a:srcRect b="0" l="0" r="0" t="0"/>
          <a:stretch/>
        </p:blipFill>
        <p:spPr>
          <a:xfrm>
            <a:off x="6286500" y="5505450"/>
            <a:ext cx="76200" cy="76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46" name="Shape 346"/>
        <p:cNvGrpSpPr/>
        <p:nvPr/>
      </p:nvGrpSpPr>
      <p:grpSpPr>
        <a:xfrm>
          <a:off x="0" y="0"/>
          <a:ext cx="0" cy="0"/>
          <a:chOff x="0" y="0"/>
          <a:chExt cx="0" cy="0"/>
        </a:xfrm>
      </p:grpSpPr>
      <p:pic>
        <p:nvPicPr>
          <p:cNvPr descr="image.png" id="347" name="Google Shape;347;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48" name="Google Shape;348;p28"/>
          <p:cNvPicPr preferRelativeResize="0"/>
          <p:nvPr/>
        </p:nvPicPr>
        <p:blipFill rotWithShape="1">
          <a:blip r:embed="rId4">
            <a:alphaModFix/>
          </a:blip>
          <a:srcRect b="0" l="0" r="0" t="0"/>
          <a:stretch/>
        </p:blipFill>
        <p:spPr>
          <a:xfrm>
            <a:off x="6667500" y="2076450"/>
            <a:ext cx="4953000" cy="3248025"/>
          </a:xfrm>
          <a:prstGeom prst="rect">
            <a:avLst/>
          </a:prstGeom>
          <a:noFill/>
          <a:ln>
            <a:noFill/>
          </a:ln>
        </p:spPr>
      </p:pic>
      <p:pic>
        <p:nvPicPr>
          <p:cNvPr descr="image.png" id="349" name="Google Shape;349;p28"/>
          <p:cNvPicPr preferRelativeResize="0"/>
          <p:nvPr/>
        </p:nvPicPr>
        <p:blipFill rotWithShape="1">
          <a:blip r:embed="rId5">
            <a:alphaModFix/>
          </a:blip>
          <a:srcRect b="0" l="0" r="0" t="0"/>
          <a:stretch/>
        </p:blipFill>
        <p:spPr>
          <a:xfrm>
            <a:off x="0" y="0"/>
            <a:ext cx="6096000" cy="6858000"/>
          </a:xfrm>
          <a:prstGeom prst="rect">
            <a:avLst/>
          </a:prstGeom>
          <a:noFill/>
          <a:ln>
            <a:noFill/>
          </a:ln>
        </p:spPr>
      </p:pic>
      <p:sp>
        <p:nvSpPr>
          <p:cNvPr id="350" name="Google Shape;350;p28"/>
          <p:cNvSpPr txBox="1"/>
          <p:nvPr/>
        </p:nvSpPr>
        <p:spPr>
          <a:xfrm>
            <a:off x="6667500" y="571500"/>
            <a:ext cx="5200650" cy="1123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Machine Learning Pipeline</a:t>
            </a:r>
            <a:endParaRPr/>
          </a:p>
        </p:txBody>
      </p:sp>
      <p:sp>
        <p:nvSpPr>
          <p:cNvPr id="351" name="Google Shape;351;p28"/>
          <p:cNvSpPr txBox="1"/>
          <p:nvPr/>
        </p:nvSpPr>
        <p:spPr>
          <a:xfrm>
            <a:off x="6962775" y="2371725"/>
            <a:ext cx="4580572"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A84FF"/>
                </a:solidFill>
                <a:latin typeface="Inter SemiBold"/>
                <a:ea typeface="Inter SemiBold"/>
                <a:cs typeface="Inter SemiBold"/>
                <a:sym typeface="Inter SemiBold"/>
              </a:rPr>
              <a:t>Automated Inference</a:t>
            </a:r>
            <a:endParaRPr/>
          </a:p>
        </p:txBody>
      </p:sp>
      <p:sp>
        <p:nvSpPr>
          <p:cNvPr id="352" name="Google Shape;352;p28"/>
          <p:cNvSpPr txBox="1"/>
          <p:nvPr/>
        </p:nvSpPr>
        <p:spPr>
          <a:xfrm>
            <a:off x="6962775" y="2838450"/>
            <a:ext cx="4362450" cy="2000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86868B"/>
                </a:solidFill>
                <a:latin typeface="Inter"/>
                <a:ea typeface="Inter"/>
                <a:cs typeface="Inter"/>
                <a:sym typeface="Inter"/>
              </a:rPr>
              <a:t>The deployment pipeline ensures seamless data flow. Raw sensor streams undergo dynamic scaling via a serialized transformation pipeline. The processed vector is fed into the ensemble model, which instantaneously outputs a binary classification alongside a probabilistic confidence score.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56" name="Shape 356"/>
        <p:cNvGrpSpPr/>
        <p:nvPr/>
      </p:nvGrpSpPr>
      <p:grpSpPr>
        <a:xfrm>
          <a:off x="0" y="0"/>
          <a:ext cx="0" cy="0"/>
          <a:chOff x="0" y="0"/>
          <a:chExt cx="0" cy="0"/>
        </a:xfrm>
      </p:grpSpPr>
      <p:pic>
        <p:nvPicPr>
          <p:cNvPr descr="image.png" id="357" name="Google Shape;357;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58" name="Google Shape;358;p29"/>
          <p:cNvPicPr preferRelativeResize="0"/>
          <p:nvPr/>
        </p:nvPicPr>
        <p:blipFill rotWithShape="1">
          <a:blip r:embed="rId4">
            <a:alphaModFix/>
          </a:blip>
          <a:srcRect b="0" l="0" r="0" t="0"/>
          <a:stretch/>
        </p:blipFill>
        <p:spPr>
          <a:xfrm>
            <a:off x="571500" y="1514475"/>
            <a:ext cx="5334000" cy="4772025"/>
          </a:xfrm>
          <a:prstGeom prst="rect">
            <a:avLst/>
          </a:prstGeom>
          <a:noFill/>
          <a:ln>
            <a:noFill/>
          </a:ln>
        </p:spPr>
      </p:pic>
      <p:pic>
        <p:nvPicPr>
          <p:cNvPr descr="image.png" id="359" name="Google Shape;359;p29"/>
          <p:cNvPicPr preferRelativeResize="0"/>
          <p:nvPr/>
        </p:nvPicPr>
        <p:blipFill rotWithShape="1">
          <a:blip r:embed="rId5">
            <a:alphaModFix/>
          </a:blip>
          <a:srcRect b="0" l="0" r="0" t="0"/>
          <a:stretch/>
        </p:blipFill>
        <p:spPr>
          <a:xfrm>
            <a:off x="6286500" y="1514475"/>
            <a:ext cx="5334000" cy="4772025"/>
          </a:xfrm>
          <a:prstGeom prst="rect">
            <a:avLst/>
          </a:prstGeom>
          <a:noFill/>
          <a:ln>
            <a:noFill/>
          </a:ln>
        </p:spPr>
      </p:pic>
      <p:sp>
        <p:nvSpPr>
          <p:cNvPr id="360" name="Google Shape;360;p29"/>
          <p:cNvSpPr txBox="1"/>
          <p:nvPr/>
        </p:nvSpPr>
        <p:spPr>
          <a:xfrm>
            <a:off x="962025" y="1905000"/>
            <a:ext cx="478059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Logistic Regression</a:t>
            </a:r>
            <a:endParaRPr/>
          </a:p>
        </p:txBody>
      </p:sp>
      <p:sp>
        <p:nvSpPr>
          <p:cNvPr id="361" name="Google Shape;361;p29"/>
          <p:cNvSpPr txBox="1"/>
          <p:nvPr/>
        </p:nvSpPr>
        <p:spPr>
          <a:xfrm>
            <a:off x="962025" y="2371725"/>
            <a:ext cx="4552950"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Used as a baseline predictive model for binary classification. It estimates the probability of equipment failure utilizing a logistic function.</a:t>
            </a:r>
            <a:endParaRPr/>
          </a:p>
        </p:txBody>
      </p:sp>
      <p:sp>
        <p:nvSpPr>
          <p:cNvPr id="362" name="Google Shape;362;p29"/>
          <p:cNvSpPr txBox="1"/>
          <p:nvPr/>
        </p:nvSpPr>
        <p:spPr>
          <a:xfrm>
            <a:off x="6677025" y="1905000"/>
            <a:ext cx="478059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30D158"/>
                </a:solidFill>
                <a:latin typeface="Inter SemiBold"/>
                <a:ea typeface="Inter SemiBold"/>
                <a:cs typeface="Inter SemiBold"/>
                <a:sym typeface="Inter SemiBold"/>
              </a:rPr>
              <a:t>Random Forest (Selected)</a:t>
            </a:r>
            <a:endParaRPr/>
          </a:p>
        </p:txBody>
      </p:sp>
      <p:sp>
        <p:nvSpPr>
          <p:cNvPr id="363" name="Google Shape;363;p29"/>
          <p:cNvSpPr txBox="1"/>
          <p:nvPr/>
        </p:nvSpPr>
        <p:spPr>
          <a:xfrm>
            <a:off x="6677025" y="2371725"/>
            <a:ext cx="4552950"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The primary model chosen for production. It is an ensemble learning method that constructs a multitude of decision trees during training.</a:t>
            </a:r>
            <a:endParaRPr/>
          </a:p>
        </p:txBody>
      </p:sp>
      <p:sp>
        <p:nvSpPr>
          <p:cNvPr id="364" name="Google Shape;364;p29"/>
          <p:cNvSpPr txBox="1"/>
          <p:nvPr/>
        </p:nvSpPr>
        <p:spPr>
          <a:xfrm>
            <a:off x="6677025" y="3286125"/>
            <a:ext cx="4552950"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Random Forest was selected due to its exceptional resistance to overfitting on noisy sensor data and its ability to rank feature importance (e.g., confirming Torque as a primary failure driver).</a:t>
            </a:r>
            <a:endParaRPr/>
          </a:p>
        </p:txBody>
      </p:sp>
      <p:pic>
        <p:nvPicPr>
          <p:cNvPr descr="image.png" id="365" name="Google Shape;365;p29"/>
          <p:cNvPicPr preferRelativeResize="0"/>
          <p:nvPr/>
        </p:nvPicPr>
        <p:blipFill rotWithShape="1">
          <a:blip r:embed="rId6">
            <a:alphaModFix/>
          </a:blip>
          <a:srcRect b="0" l="0" r="0" t="0"/>
          <a:stretch/>
        </p:blipFill>
        <p:spPr>
          <a:xfrm>
            <a:off x="962025" y="3331368"/>
            <a:ext cx="2493912" cy="298251"/>
          </a:xfrm>
          <a:prstGeom prst="rect">
            <a:avLst/>
          </a:prstGeom>
          <a:noFill/>
          <a:ln>
            <a:noFill/>
          </a:ln>
        </p:spPr>
      </p:pic>
      <p:sp>
        <p:nvSpPr>
          <p:cNvPr id="366" name="Google Shape;366;p29"/>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Algorithms Deployed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70" name="Shape 370"/>
        <p:cNvGrpSpPr/>
        <p:nvPr/>
      </p:nvGrpSpPr>
      <p:grpSpPr>
        <a:xfrm>
          <a:off x="0" y="0"/>
          <a:ext cx="0" cy="0"/>
          <a:chOff x="0" y="0"/>
          <a:chExt cx="0" cy="0"/>
        </a:xfrm>
      </p:grpSpPr>
      <p:pic>
        <p:nvPicPr>
          <p:cNvPr descr="image.png" id="371" name="Google Shape;371;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72" name="Google Shape;372;p30"/>
          <p:cNvPicPr preferRelativeResize="0"/>
          <p:nvPr/>
        </p:nvPicPr>
        <p:blipFill rotWithShape="1">
          <a:blip r:embed="rId4">
            <a:alphaModFix/>
          </a:blip>
          <a:srcRect b="0" l="0" r="0" t="0"/>
          <a:stretch/>
        </p:blipFill>
        <p:spPr>
          <a:xfrm>
            <a:off x="571500" y="1514475"/>
            <a:ext cx="3492549" cy="3095625"/>
          </a:xfrm>
          <a:prstGeom prst="rect">
            <a:avLst/>
          </a:prstGeom>
          <a:noFill/>
          <a:ln>
            <a:noFill/>
          </a:ln>
        </p:spPr>
      </p:pic>
      <p:pic>
        <p:nvPicPr>
          <p:cNvPr descr="image.png" id="373" name="Google Shape;373;p30"/>
          <p:cNvPicPr preferRelativeResize="0"/>
          <p:nvPr/>
        </p:nvPicPr>
        <p:blipFill rotWithShape="1">
          <a:blip r:embed="rId5">
            <a:alphaModFix/>
          </a:blip>
          <a:srcRect b="0" l="0" r="0" t="0"/>
          <a:stretch/>
        </p:blipFill>
        <p:spPr>
          <a:xfrm>
            <a:off x="4349799" y="1514475"/>
            <a:ext cx="3492549" cy="3095625"/>
          </a:xfrm>
          <a:prstGeom prst="rect">
            <a:avLst/>
          </a:prstGeom>
          <a:noFill/>
          <a:ln>
            <a:noFill/>
          </a:ln>
        </p:spPr>
      </p:pic>
      <p:pic>
        <p:nvPicPr>
          <p:cNvPr descr="image.png" id="374" name="Google Shape;374;p30"/>
          <p:cNvPicPr preferRelativeResize="0"/>
          <p:nvPr/>
        </p:nvPicPr>
        <p:blipFill rotWithShape="1">
          <a:blip r:embed="rId6">
            <a:alphaModFix/>
          </a:blip>
          <a:srcRect b="0" l="0" r="0" t="0"/>
          <a:stretch/>
        </p:blipFill>
        <p:spPr>
          <a:xfrm>
            <a:off x="8128099" y="1514475"/>
            <a:ext cx="3492549" cy="3095625"/>
          </a:xfrm>
          <a:prstGeom prst="rect">
            <a:avLst/>
          </a:prstGeom>
          <a:noFill/>
          <a:ln>
            <a:noFill/>
          </a:ln>
        </p:spPr>
      </p:pic>
      <p:sp>
        <p:nvSpPr>
          <p:cNvPr id="375" name="Google Shape;375;p30"/>
          <p:cNvSpPr txBox="1"/>
          <p:nvPr/>
        </p:nvSpPr>
        <p:spPr>
          <a:xfrm>
            <a:off x="866775"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Data Splitting</a:t>
            </a:r>
            <a:endParaRPr/>
          </a:p>
        </p:txBody>
      </p:sp>
      <p:sp>
        <p:nvSpPr>
          <p:cNvPr id="376" name="Google Shape;376;p30"/>
          <p:cNvSpPr txBox="1"/>
          <p:nvPr/>
        </p:nvSpPr>
        <p:spPr>
          <a:xfrm>
            <a:off x="866775" y="2981325"/>
            <a:ext cx="2901999"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The historical dataset was partitioned using a strict 80/20 train-test split, ensuring the model's predictive power is evaluated on completely unseen future data.</a:t>
            </a:r>
            <a:endParaRPr/>
          </a:p>
        </p:txBody>
      </p:sp>
      <p:sp>
        <p:nvSpPr>
          <p:cNvPr id="377" name="Google Shape;377;p30"/>
          <p:cNvSpPr txBox="1"/>
          <p:nvPr/>
        </p:nvSpPr>
        <p:spPr>
          <a:xfrm>
            <a:off x="4645074"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Cross-Validation</a:t>
            </a:r>
            <a:endParaRPr/>
          </a:p>
        </p:txBody>
      </p:sp>
      <p:sp>
        <p:nvSpPr>
          <p:cNvPr id="378" name="Google Shape;378;p30"/>
          <p:cNvSpPr txBox="1"/>
          <p:nvPr/>
        </p:nvSpPr>
        <p:spPr>
          <a:xfrm>
            <a:off x="4645074" y="2981325"/>
            <a:ext cx="2901999" cy="914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Implemented 5-fold cross-validation to guarantee the model's stability and generalization capabilities across varying industrial operational states.</a:t>
            </a:r>
            <a:endParaRPr/>
          </a:p>
        </p:txBody>
      </p:sp>
      <p:sp>
        <p:nvSpPr>
          <p:cNvPr id="379" name="Google Shape;379;p30"/>
          <p:cNvSpPr txBox="1"/>
          <p:nvPr/>
        </p:nvSpPr>
        <p:spPr>
          <a:xfrm>
            <a:off x="8423374"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Hyperparameter Tuning</a:t>
            </a:r>
            <a:endParaRPr/>
          </a:p>
        </p:txBody>
      </p:sp>
      <p:sp>
        <p:nvSpPr>
          <p:cNvPr id="380" name="Google Shape;380;p30"/>
          <p:cNvSpPr txBox="1"/>
          <p:nvPr/>
        </p:nvSpPr>
        <p:spPr>
          <a:xfrm>
            <a:off x="8423374" y="2981325"/>
            <a:ext cx="2901999"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Utilized GridSearchCV to meticulously optimize the Random Forest parameters, specifically tuning 'n_estimators' and 'max_depth' for peak accuracy.</a:t>
            </a:r>
            <a:endParaRPr/>
          </a:p>
        </p:txBody>
      </p:sp>
      <p:pic>
        <p:nvPicPr>
          <p:cNvPr descr="image.png" id="381" name="Google Shape;381;p30"/>
          <p:cNvPicPr preferRelativeResize="0"/>
          <p:nvPr/>
        </p:nvPicPr>
        <p:blipFill rotWithShape="1">
          <a:blip r:embed="rId7">
            <a:alphaModFix/>
          </a:blip>
          <a:srcRect b="0" l="0" r="0" t="0"/>
          <a:stretch/>
        </p:blipFill>
        <p:spPr>
          <a:xfrm>
            <a:off x="866775" y="1895475"/>
            <a:ext cx="381000" cy="381000"/>
          </a:xfrm>
          <a:prstGeom prst="rect">
            <a:avLst/>
          </a:prstGeom>
          <a:noFill/>
          <a:ln>
            <a:noFill/>
          </a:ln>
        </p:spPr>
      </p:pic>
      <p:pic>
        <p:nvPicPr>
          <p:cNvPr descr="image.png" id="382" name="Google Shape;382;p30"/>
          <p:cNvPicPr preferRelativeResize="0"/>
          <p:nvPr/>
        </p:nvPicPr>
        <p:blipFill rotWithShape="1">
          <a:blip r:embed="rId8">
            <a:alphaModFix/>
          </a:blip>
          <a:srcRect b="0" l="0" r="0" t="0"/>
          <a:stretch/>
        </p:blipFill>
        <p:spPr>
          <a:xfrm>
            <a:off x="4645074" y="1895475"/>
            <a:ext cx="428625" cy="381000"/>
          </a:xfrm>
          <a:prstGeom prst="rect">
            <a:avLst/>
          </a:prstGeom>
          <a:noFill/>
          <a:ln>
            <a:noFill/>
          </a:ln>
        </p:spPr>
      </p:pic>
      <p:pic>
        <p:nvPicPr>
          <p:cNvPr descr="image.png" id="383" name="Google Shape;383;p30"/>
          <p:cNvPicPr preferRelativeResize="0"/>
          <p:nvPr/>
        </p:nvPicPr>
        <p:blipFill rotWithShape="1">
          <a:blip r:embed="rId9">
            <a:alphaModFix/>
          </a:blip>
          <a:srcRect b="0" l="0" r="0" t="0"/>
          <a:stretch/>
        </p:blipFill>
        <p:spPr>
          <a:xfrm>
            <a:off x="8423374" y="1895475"/>
            <a:ext cx="381000" cy="381000"/>
          </a:xfrm>
          <a:prstGeom prst="rect">
            <a:avLst/>
          </a:prstGeom>
          <a:noFill/>
          <a:ln>
            <a:noFill/>
          </a:ln>
        </p:spPr>
      </p:pic>
      <p:sp>
        <p:nvSpPr>
          <p:cNvPr id="384" name="Google Shape;384;p30"/>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Model Training Process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88" name="Shape 388"/>
        <p:cNvGrpSpPr/>
        <p:nvPr/>
      </p:nvGrpSpPr>
      <p:grpSpPr>
        <a:xfrm>
          <a:off x="0" y="0"/>
          <a:ext cx="0" cy="0"/>
          <a:chOff x="0" y="0"/>
          <a:chExt cx="0" cy="0"/>
        </a:xfrm>
      </p:grpSpPr>
      <p:pic>
        <p:nvPicPr>
          <p:cNvPr descr="image.png" id="389" name="Google Shape;389;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93" name="Shape 393"/>
        <p:cNvGrpSpPr/>
        <p:nvPr/>
      </p:nvGrpSpPr>
      <p:grpSpPr>
        <a:xfrm>
          <a:off x="0" y="0"/>
          <a:ext cx="0" cy="0"/>
          <a:chOff x="0" y="0"/>
          <a:chExt cx="0" cy="0"/>
        </a:xfrm>
      </p:grpSpPr>
      <p:pic>
        <p:nvPicPr>
          <p:cNvPr descr="image.png" id="394" name="Google Shape;394;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95" name="Google Shape;395;p32"/>
          <p:cNvPicPr preferRelativeResize="0"/>
          <p:nvPr/>
        </p:nvPicPr>
        <p:blipFill rotWithShape="1">
          <a:blip r:embed="rId4">
            <a:alphaModFix/>
          </a:blip>
          <a:srcRect b="0" l="0" r="0" t="0"/>
          <a:stretch/>
        </p:blipFill>
        <p:spPr>
          <a:xfrm>
            <a:off x="571500" y="1514475"/>
            <a:ext cx="5334000" cy="4772025"/>
          </a:xfrm>
          <a:prstGeom prst="rect">
            <a:avLst/>
          </a:prstGeom>
          <a:noFill/>
          <a:ln>
            <a:noFill/>
          </a:ln>
        </p:spPr>
      </p:pic>
      <p:pic>
        <p:nvPicPr>
          <p:cNvPr descr="image.png" id="396" name="Google Shape;396;p32"/>
          <p:cNvPicPr preferRelativeResize="0"/>
          <p:nvPr/>
        </p:nvPicPr>
        <p:blipFill rotWithShape="1">
          <a:blip r:embed="rId5">
            <a:alphaModFix/>
          </a:blip>
          <a:srcRect b="0" l="0" r="0" t="0"/>
          <a:stretch/>
        </p:blipFill>
        <p:spPr>
          <a:xfrm>
            <a:off x="6286500" y="1514475"/>
            <a:ext cx="5334000" cy="4772025"/>
          </a:xfrm>
          <a:prstGeom prst="rect">
            <a:avLst/>
          </a:prstGeom>
          <a:noFill/>
          <a:ln>
            <a:noFill/>
          </a:ln>
        </p:spPr>
      </p:pic>
      <p:sp>
        <p:nvSpPr>
          <p:cNvPr id="397" name="Google Shape;397;p32"/>
          <p:cNvSpPr txBox="1"/>
          <p:nvPr/>
        </p:nvSpPr>
        <p:spPr>
          <a:xfrm>
            <a:off x="962025" y="1905000"/>
            <a:ext cx="478059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Live Telemetry Visualization</a:t>
            </a:r>
            <a:endParaRPr/>
          </a:p>
        </p:txBody>
      </p:sp>
      <p:sp>
        <p:nvSpPr>
          <p:cNvPr id="398" name="Google Shape;398;p32"/>
          <p:cNvSpPr txBox="1"/>
          <p:nvPr/>
        </p:nvSpPr>
        <p:spPr>
          <a:xfrm>
            <a:off x="962025" y="2371725"/>
            <a:ext cx="4552950"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Animated Plotly gauges and real-time line charts track RPM, Torque, and Temperature continuously. This gives plant managers an immediate, intuitive understanding of the physical machine's current operational state.</a:t>
            </a:r>
            <a:endParaRPr/>
          </a:p>
        </p:txBody>
      </p:sp>
      <p:sp>
        <p:nvSpPr>
          <p:cNvPr id="399" name="Google Shape;399;p32"/>
          <p:cNvSpPr txBox="1"/>
          <p:nvPr/>
        </p:nvSpPr>
        <p:spPr>
          <a:xfrm>
            <a:off x="6677025" y="1905000"/>
            <a:ext cx="478059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Predictive Health Scoring</a:t>
            </a:r>
            <a:endParaRPr/>
          </a:p>
        </p:txBody>
      </p:sp>
      <p:sp>
        <p:nvSpPr>
          <p:cNvPr id="400" name="Google Shape;400;p32"/>
          <p:cNvSpPr txBox="1"/>
          <p:nvPr/>
        </p:nvSpPr>
        <p:spPr>
          <a:xfrm>
            <a:off x="6677025" y="2371725"/>
            <a:ext cx="4552950"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The UI aggregates ML predictions into an overall 'Machine Health Score' (0-100%). If the probability of failure crosses a calculated threshold, the interface transitions to an alert state, prompting immediate intervention.</a:t>
            </a:r>
            <a:endParaRPr/>
          </a:p>
        </p:txBody>
      </p:sp>
      <p:sp>
        <p:nvSpPr>
          <p:cNvPr id="401" name="Google Shape;401;p32"/>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Dashboard Widgets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05" name="Shape 405"/>
        <p:cNvGrpSpPr/>
        <p:nvPr/>
      </p:nvGrpSpPr>
      <p:grpSpPr>
        <a:xfrm>
          <a:off x="0" y="0"/>
          <a:ext cx="0" cy="0"/>
          <a:chOff x="0" y="0"/>
          <a:chExt cx="0" cy="0"/>
        </a:xfrm>
      </p:grpSpPr>
      <p:pic>
        <p:nvPicPr>
          <p:cNvPr descr="image.png" id="406" name="Google Shape;406;p3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07" name="Google Shape;407;p33"/>
          <p:cNvPicPr preferRelativeResize="0"/>
          <p:nvPr/>
        </p:nvPicPr>
        <p:blipFill rotWithShape="1">
          <a:blip r:embed="rId4">
            <a:alphaModFix/>
          </a:blip>
          <a:srcRect b="0" l="0" r="0" t="0"/>
          <a:stretch/>
        </p:blipFill>
        <p:spPr>
          <a:xfrm>
            <a:off x="571500" y="1514475"/>
            <a:ext cx="5629275" cy="4772025"/>
          </a:xfrm>
          <a:prstGeom prst="rect">
            <a:avLst/>
          </a:prstGeom>
          <a:noFill/>
          <a:ln>
            <a:noFill/>
          </a:ln>
        </p:spPr>
      </p:pic>
      <p:pic>
        <p:nvPicPr>
          <p:cNvPr descr="image.png" id="408" name="Google Shape;408;p33"/>
          <p:cNvPicPr preferRelativeResize="0"/>
          <p:nvPr/>
        </p:nvPicPr>
        <p:blipFill rotWithShape="1">
          <a:blip r:embed="rId5">
            <a:alphaModFix/>
          </a:blip>
          <a:srcRect b="0" l="0" r="0" t="0"/>
          <a:stretch/>
        </p:blipFill>
        <p:spPr>
          <a:xfrm>
            <a:off x="6581775" y="1514475"/>
            <a:ext cx="5038725" cy="4286250"/>
          </a:xfrm>
          <a:prstGeom prst="rect">
            <a:avLst/>
          </a:prstGeom>
          <a:noFill/>
          <a:ln>
            <a:noFill/>
          </a:ln>
        </p:spPr>
      </p:pic>
      <p:sp>
        <p:nvSpPr>
          <p:cNvPr id="409" name="Google Shape;409;p33"/>
          <p:cNvSpPr txBox="1"/>
          <p:nvPr/>
        </p:nvSpPr>
        <p:spPr>
          <a:xfrm>
            <a:off x="866775" y="1809750"/>
            <a:ext cx="5290661"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Real-Time Inference Loop</a:t>
            </a:r>
            <a:endParaRPr/>
          </a:p>
        </p:txBody>
      </p:sp>
      <p:pic>
        <p:nvPicPr>
          <p:cNvPr descr="image.png" id="410" name="Google Shape;410;p33"/>
          <p:cNvPicPr preferRelativeResize="0"/>
          <p:nvPr/>
        </p:nvPicPr>
        <p:blipFill rotWithShape="1">
          <a:blip r:embed="rId6">
            <a:alphaModFix/>
          </a:blip>
          <a:srcRect b="0" l="0" r="0" t="0"/>
          <a:stretch/>
        </p:blipFill>
        <p:spPr>
          <a:xfrm>
            <a:off x="6591300" y="1524000"/>
            <a:ext cx="5019675" cy="4267200"/>
          </a:xfrm>
          <a:prstGeom prst="rect">
            <a:avLst/>
          </a:prstGeom>
          <a:noFill/>
          <a:ln>
            <a:noFill/>
          </a:ln>
        </p:spPr>
      </p:pic>
      <p:sp>
        <p:nvSpPr>
          <p:cNvPr id="411" name="Google Shape;411;p33"/>
          <p:cNvSpPr txBox="1"/>
          <p:nvPr/>
        </p:nvSpPr>
        <p:spPr>
          <a:xfrm>
            <a:off x="1152525" y="2276475"/>
            <a:ext cx="47529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86868B"/>
                </a:solidFill>
                <a:latin typeface="Inter"/>
                <a:ea typeface="Inter"/>
                <a:cs typeface="Inter"/>
                <a:sym typeface="Inter"/>
              </a:rPr>
              <a:t>Step 1:</a:t>
            </a:r>
            <a:r>
              <a:rPr b="0" i="0" lang="en-US" sz="1350" u="none" cap="none" strike="noStrike">
                <a:solidFill>
                  <a:srgbClr val="86868B"/>
                </a:solidFill>
                <a:latin typeface="Inter"/>
                <a:ea typeface="Inter"/>
                <a:cs typeface="Inter"/>
                <a:sym typeface="Inter"/>
              </a:rPr>
              <a:t> Digital Twin receives sensor payload via MQTT/REST API at 1Hz frequency.</a:t>
            </a:r>
            <a:endParaRPr/>
          </a:p>
        </p:txBody>
      </p:sp>
      <p:sp>
        <p:nvSpPr>
          <p:cNvPr id="412" name="Google Shape;412;p33"/>
          <p:cNvSpPr txBox="1"/>
          <p:nvPr/>
        </p:nvSpPr>
        <p:spPr>
          <a:xfrm>
            <a:off x="1152525" y="2933700"/>
            <a:ext cx="475297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86868B"/>
                </a:solidFill>
                <a:latin typeface="Inter"/>
                <a:ea typeface="Inter"/>
                <a:cs typeface="Inter"/>
                <a:sym typeface="Inter"/>
              </a:rPr>
              <a:t>Step 2:</a:t>
            </a:r>
            <a:r>
              <a:rPr b="0" i="0" lang="en-US" sz="1350" u="none" cap="none" strike="noStrike">
                <a:solidFill>
                  <a:srgbClr val="86868B"/>
                </a:solidFill>
                <a:latin typeface="Inter"/>
                <a:ea typeface="Inter"/>
                <a:cs typeface="Inter"/>
                <a:sym typeface="Inter"/>
              </a:rPr>
              <a:t> Data is scaled using the pre-fitted standardizer.</a:t>
            </a:r>
            <a:endParaRPr/>
          </a:p>
        </p:txBody>
      </p:sp>
      <p:sp>
        <p:nvSpPr>
          <p:cNvPr id="413" name="Google Shape;413;p33"/>
          <p:cNvSpPr txBox="1"/>
          <p:nvPr/>
        </p:nvSpPr>
        <p:spPr>
          <a:xfrm>
            <a:off x="1152525" y="3333750"/>
            <a:ext cx="475297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86868B"/>
                </a:solidFill>
                <a:latin typeface="Inter"/>
                <a:ea typeface="Inter"/>
                <a:cs typeface="Inter"/>
                <a:sym typeface="Inter"/>
              </a:rPr>
              <a:t>Step 3:</a:t>
            </a:r>
            <a:r>
              <a:rPr b="0" i="0" lang="en-US" sz="1350" u="none" cap="none" strike="noStrike">
                <a:solidFill>
                  <a:srgbClr val="86868B"/>
                </a:solidFill>
                <a:latin typeface="Inter"/>
                <a:ea typeface="Inter"/>
                <a:cs typeface="Inter"/>
                <a:sym typeface="Inter"/>
              </a:rPr>
              <a:t> Random Forest model executes `predict_proba()`.</a:t>
            </a:r>
            <a:endParaRPr/>
          </a:p>
        </p:txBody>
      </p:sp>
      <p:sp>
        <p:nvSpPr>
          <p:cNvPr id="414" name="Google Shape;414;p33"/>
          <p:cNvSpPr txBox="1"/>
          <p:nvPr/>
        </p:nvSpPr>
        <p:spPr>
          <a:xfrm>
            <a:off x="1152525" y="3733800"/>
            <a:ext cx="47529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86868B"/>
                </a:solidFill>
                <a:latin typeface="Inter"/>
                <a:ea typeface="Inter"/>
                <a:cs typeface="Inter"/>
                <a:sym typeface="Inter"/>
              </a:rPr>
              <a:t>Step 4:</a:t>
            </a:r>
            <a:r>
              <a:rPr b="0" i="0" lang="en-US" sz="1350" u="none" cap="none" strike="noStrike">
                <a:solidFill>
                  <a:srgbClr val="86868B"/>
                </a:solidFill>
                <a:latin typeface="Inter"/>
                <a:ea typeface="Inter"/>
                <a:cs typeface="Inter"/>
                <a:sym typeface="Inter"/>
              </a:rPr>
              <a:t> Probability is evaluated against the 0.65 critical threshold.</a:t>
            </a:r>
            <a:endParaRPr/>
          </a:p>
        </p:txBody>
      </p:sp>
      <p:sp>
        <p:nvSpPr>
          <p:cNvPr id="415" name="Google Shape;415;p33"/>
          <p:cNvSpPr txBox="1"/>
          <p:nvPr/>
        </p:nvSpPr>
        <p:spPr>
          <a:xfrm>
            <a:off x="1152525" y="4391025"/>
            <a:ext cx="47529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86868B"/>
                </a:solidFill>
                <a:latin typeface="Inter"/>
                <a:ea typeface="Inter"/>
                <a:cs typeface="Inter"/>
                <a:sym typeface="Inter"/>
              </a:rPr>
              <a:t>Step 5:</a:t>
            </a:r>
            <a:r>
              <a:rPr b="0" i="0" lang="en-US" sz="1350" u="none" cap="none" strike="noStrike">
                <a:solidFill>
                  <a:srgbClr val="86868B"/>
                </a:solidFill>
                <a:latin typeface="Inter"/>
                <a:ea typeface="Inter"/>
                <a:cs typeface="Inter"/>
                <a:sym typeface="Inter"/>
              </a:rPr>
              <a:t> Dashboard updates state; triggering UI red alerts and dispatching maintenance logs if a failure is imminent.</a:t>
            </a:r>
            <a:endParaRPr/>
          </a:p>
        </p:txBody>
      </p:sp>
      <p:sp>
        <p:nvSpPr>
          <p:cNvPr id="416" name="Google Shape;416;p33"/>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Failure Prediction Process</a:t>
            </a:r>
            <a:endParaRPr/>
          </a:p>
        </p:txBody>
      </p:sp>
      <p:pic>
        <p:nvPicPr>
          <p:cNvPr descr="image.png" id="417" name="Google Shape;417;p33"/>
          <p:cNvPicPr preferRelativeResize="0"/>
          <p:nvPr/>
        </p:nvPicPr>
        <p:blipFill rotWithShape="1">
          <a:blip r:embed="rId7">
            <a:alphaModFix/>
          </a:blip>
          <a:srcRect b="0" l="0" r="0" t="0"/>
          <a:stretch/>
        </p:blipFill>
        <p:spPr>
          <a:xfrm>
            <a:off x="866775" y="2314575"/>
            <a:ext cx="76200" cy="76200"/>
          </a:xfrm>
          <a:prstGeom prst="rect">
            <a:avLst/>
          </a:prstGeom>
          <a:noFill/>
          <a:ln>
            <a:noFill/>
          </a:ln>
        </p:spPr>
      </p:pic>
      <p:pic>
        <p:nvPicPr>
          <p:cNvPr descr="image.png" id="418" name="Google Shape;418;p33"/>
          <p:cNvPicPr preferRelativeResize="0"/>
          <p:nvPr/>
        </p:nvPicPr>
        <p:blipFill rotWithShape="1">
          <a:blip r:embed="rId7">
            <a:alphaModFix/>
          </a:blip>
          <a:srcRect b="0" l="0" r="0" t="0"/>
          <a:stretch/>
        </p:blipFill>
        <p:spPr>
          <a:xfrm>
            <a:off x="866775" y="2971800"/>
            <a:ext cx="76200" cy="76200"/>
          </a:xfrm>
          <a:prstGeom prst="rect">
            <a:avLst/>
          </a:prstGeom>
          <a:noFill/>
          <a:ln>
            <a:noFill/>
          </a:ln>
        </p:spPr>
      </p:pic>
      <p:pic>
        <p:nvPicPr>
          <p:cNvPr descr="image.png" id="419" name="Google Shape;419;p33"/>
          <p:cNvPicPr preferRelativeResize="0"/>
          <p:nvPr/>
        </p:nvPicPr>
        <p:blipFill rotWithShape="1">
          <a:blip r:embed="rId7">
            <a:alphaModFix/>
          </a:blip>
          <a:srcRect b="0" l="0" r="0" t="0"/>
          <a:stretch/>
        </p:blipFill>
        <p:spPr>
          <a:xfrm>
            <a:off x="866775" y="3371850"/>
            <a:ext cx="76200" cy="76200"/>
          </a:xfrm>
          <a:prstGeom prst="rect">
            <a:avLst/>
          </a:prstGeom>
          <a:noFill/>
          <a:ln>
            <a:noFill/>
          </a:ln>
        </p:spPr>
      </p:pic>
      <p:pic>
        <p:nvPicPr>
          <p:cNvPr descr="image.png" id="420" name="Google Shape;420;p33"/>
          <p:cNvPicPr preferRelativeResize="0"/>
          <p:nvPr/>
        </p:nvPicPr>
        <p:blipFill rotWithShape="1">
          <a:blip r:embed="rId7">
            <a:alphaModFix/>
          </a:blip>
          <a:srcRect b="0" l="0" r="0" t="0"/>
          <a:stretch/>
        </p:blipFill>
        <p:spPr>
          <a:xfrm>
            <a:off x="866775" y="3771900"/>
            <a:ext cx="76200" cy="76200"/>
          </a:xfrm>
          <a:prstGeom prst="rect">
            <a:avLst/>
          </a:prstGeom>
          <a:noFill/>
          <a:ln>
            <a:noFill/>
          </a:ln>
        </p:spPr>
      </p:pic>
      <p:pic>
        <p:nvPicPr>
          <p:cNvPr descr="image.png" id="421" name="Google Shape;421;p33"/>
          <p:cNvPicPr preferRelativeResize="0"/>
          <p:nvPr/>
        </p:nvPicPr>
        <p:blipFill rotWithShape="1">
          <a:blip r:embed="rId7">
            <a:alphaModFix/>
          </a:blip>
          <a:srcRect b="0" l="0" r="0" t="0"/>
          <a:stretch/>
        </p:blipFill>
        <p:spPr>
          <a:xfrm>
            <a:off x="866775" y="4429125"/>
            <a:ext cx="76200" cy="76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25" name="Shape 425"/>
        <p:cNvGrpSpPr/>
        <p:nvPr/>
      </p:nvGrpSpPr>
      <p:grpSpPr>
        <a:xfrm>
          <a:off x="0" y="0"/>
          <a:ext cx="0" cy="0"/>
          <a:chOff x="0" y="0"/>
          <a:chExt cx="0" cy="0"/>
        </a:xfrm>
      </p:grpSpPr>
      <p:pic>
        <p:nvPicPr>
          <p:cNvPr descr="image.png" id="426" name="Google Shape;426;p3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27" name="Google Shape;427;p34"/>
          <p:cNvPicPr preferRelativeResize="0"/>
          <p:nvPr/>
        </p:nvPicPr>
        <p:blipFill rotWithShape="1">
          <a:blip r:embed="rId4">
            <a:alphaModFix/>
          </a:blip>
          <a:srcRect b="0" l="0" r="0" t="0"/>
          <a:stretch/>
        </p:blipFill>
        <p:spPr>
          <a:xfrm>
            <a:off x="5991225" y="2200275"/>
            <a:ext cx="5629275" cy="3400425"/>
          </a:xfrm>
          <a:prstGeom prst="rect">
            <a:avLst/>
          </a:prstGeom>
          <a:noFill/>
          <a:ln>
            <a:noFill/>
          </a:ln>
        </p:spPr>
      </p:pic>
      <p:pic>
        <p:nvPicPr>
          <p:cNvPr descr="image.png" id="428" name="Google Shape;428;p34"/>
          <p:cNvPicPr preferRelativeResize="0"/>
          <p:nvPr/>
        </p:nvPicPr>
        <p:blipFill rotWithShape="1">
          <a:blip r:embed="rId5">
            <a:alphaModFix/>
          </a:blip>
          <a:srcRect b="0" l="0" r="0" t="0"/>
          <a:stretch/>
        </p:blipFill>
        <p:spPr>
          <a:xfrm>
            <a:off x="1185862" y="1995487"/>
            <a:ext cx="3810000" cy="3810000"/>
          </a:xfrm>
          <a:prstGeom prst="rect">
            <a:avLst/>
          </a:prstGeom>
          <a:noFill/>
          <a:ln>
            <a:noFill/>
          </a:ln>
        </p:spPr>
      </p:pic>
      <p:sp>
        <p:nvSpPr>
          <p:cNvPr id="429" name="Google Shape;429;p34"/>
          <p:cNvSpPr txBox="1"/>
          <p:nvPr/>
        </p:nvSpPr>
        <p:spPr>
          <a:xfrm>
            <a:off x="6286500" y="2495550"/>
            <a:ext cx="5290661"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Prescriptive Analytics</a:t>
            </a:r>
            <a:endParaRPr/>
          </a:p>
        </p:txBody>
      </p:sp>
      <p:sp>
        <p:nvSpPr>
          <p:cNvPr id="430" name="Google Shape;430;p34"/>
          <p:cNvSpPr txBox="1"/>
          <p:nvPr/>
        </p:nvSpPr>
        <p:spPr>
          <a:xfrm>
            <a:off x="6286500" y="2962275"/>
            <a:ext cx="503872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Predicting a failure is only the first step. The system utilizes Prescriptive Analytics to guide human operators on *how* to resolve the impending issue.</a:t>
            </a:r>
            <a:endParaRPr/>
          </a:p>
        </p:txBody>
      </p:sp>
      <p:sp>
        <p:nvSpPr>
          <p:cNvPr id="431" name="Google Shape;431;p34"/>
          <p:cNvSpPr txBox="1"/>
          <p:nvPr/>
        </p:nvSpPr>
        <p:spPr>
          <a:xfrm>
            <a:off x="6286500" y="3876675"/>
            <a:ext cx="5038725"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By analyzing Feature Importance (e.g., recognizing that rotational speed is the primary driver of the current failure probability), the dashboard generates specific recommendations: "Decrease Spindle Speed by 15% to avoid Thermal Overload within 2 hours."</a:t>
            </a:r>
            <a:endParaRPr/>
          </a:p>
        </p:txBody>
      </p:sp>
      <p:pic>
        <p:nvPicPr>
          <p:cNvPr descr="image.png" id="432" name="Google Shape;432;p34"/>
          <p:cNvPicPr preferRelativeResize="0"/>
          <p:nvPr/>
        </p:nvPicPr>
        <p:blipFill rotWithShape="1">
          <a:blip r:embed="rId6">
            <a:alphaModFix/>
          </a:blip>
          <a:srcRect b="0" l="0" r="0" t="0"/>
          <a:stretch/>
        </p:blipFill>
        <p:spPr>
          <a:xfrm>
            <a:off x="1204912" y="2014537"/>
            <a:ext cx="3771900" cy="3771900"/>
          </a:xfrm>
          <a:prstGeom prst="rect">
            <a:avLst/>
          </a:prstGeom>
          <a:noFill/>
          <a:ln>
            <a:noFill/>
          </a:ln>
        </p:spPr>
      </p:pic>
      <p:sp>
        <p:nvSpPr>
          <p:cNvPr id="433" name="Google Shape;433;p34"/>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Recommendation Engine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37" name="Shape 437"/>
        <p:cNvGrpSpPr/>
        <p:nvPr/>
      </p:nvGrpSpPr>
      <p:grpSpPr>
        <a:xfrm>
          <a:off x="0" y="0"/>
          <a:ext cx="0" cy="0"/>
          <a:chOff x="0" y="0"/>
          <a:chExt cx="0" cy="0"/>
        </a:xfrm>
      </p:grpSpPr>
      <p:pic>
        <p:nvPicPr>
          <p:cNvPr descr="image.png" id="438" name="Google Shape;438;p3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39" name="Google Shape;439;p35"/>
          <p:cNvPicPr preferRelativeResize="0"/>
          <p:nvPr/>
        </p:nvPicPr>
        <p:blipFill rotWithShape="1">
          <a:blip r:embed="rId4">
            <a:alphaModFix/>
          </a:blip>
          <a:srcRect b="0" l="0" r="0" t="0"/>
          <a:stretch/>
        </p:blipFill>
        <p:spPr>
          <a:xfrm>
            <a:off x="571500" y="2076450"/>
            <a:ext cx="4953000" cy="2962275"/>
          </a:xfrm>
          <a:prstGeom prst="rect">
            <a:avLst/>
          </a:prstGeom>
          <a:noFill/>
          <a:ln>
            <a:noFill/>
          </a:ln>
        </p:spPr>
      </p:pic>
      <p:sp>
        <p:nvSpPr>
          <p:cNvPr id="440" name="Google Shape;440;p35"/>
          <p:cNvSpPr txBox="1"/>
          <p:nvPr/>
        </p:nvSpPr>
        <p:spPr>
          <a:xfrm>
            <a:off x="571500" y="571500"/>
            <a:ext cx="52008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Real-Time Alert System</a:t>
            </a:r>
            <a:endParaRPr/>
          </a:p>
        </p:txBody>
      </p:sp>
      <p:pic>
        <p:nvPicPr>
          <p:cNvPr descr="A sleek, modern dark-themed industrial IoT dashboard showing a prominent critical warning alert. The screen displays vibrant red glowing charts, diagnostic telemetry data, a digital 3D machine model highlighting a fault, and a clear, bold UI card with 'CRITICAL FAULT ALERT' in a professional Apple-inspired design." id="441" name="Google Shape;441;p35"/>
          <p:cNvPicPr preferRelativeResize="0"/>
          <p:nvPr/>
        </p:nvPicPr>
        <p:blipFill rotWithShape="1">
          <a:blip r:embed="rId5">
            <a:alphaModFix/>
          </a:blip>
          <a:srcRect b="40" l="0" r="0" t="40"/>
          <a:stretch/>
        </p:blipFill>
        <p:spPr>
          <a:xfrm>
            <a:off x="6096000" y="2000250"/>
            <a:ext cx="5524500" cy="3105300"/>
          </a:xfrm>
          <a:prstGeom prst="roundRect">
            <a:avLst>
              <a:gd fmla="val 4907" name="adj"/>
            </a:avLst>
          </a:prstGeom>
          <a:noFill/>
          <a:ln>
            <a:noFill/>
          </a:ln>
        </p:spPr>
      </p:pic>
      <p:sp>
        <p:nvSpPr>
          <p:cNvPr id="442" name="Google Shape;442;p35"/>
          <p:cNvSpPr txBox="1"/>
          <p:nvPr/>
        </p:nvSpPr>
        <p:spPr>
          <a:xfrm>
            <a:off x="866775" y="2371725"/>
            <a:ext cx="45807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F453A"/>
                </a:solidFill>
                <a:latin typeface="Inter SemiBold"/>
                <a:ea typeface="Inter SemiBold"/>
                <a:cs typeface="Inter SemiBold"/>
                <a:sym typeface="Inter SemiBold"/>
              </a:rPr>
              <a:t>Critical Intervention</a:t>
            </a:r>
            <a:endParaRPr/>
          </a:p>
        </p:txBody>
      </p:sp>
      <p:sp>
        <p:nvSpPr>
          <p:cNvPr id="443" name="Google Shape;443;p35"/>
          <p:cNvSpPr txBox="1"/>
          <p:nvPr/>
        </p:nvSpPr>
        <p:spPr>
          <a:xfrm>
            <a:off x="866775" y="2838450"/>
            <a:ext cx="4362600" cy="1962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86868B"/>
                </a:solidFill>
                <a:latin typeface="Inter"/>
                <a:ea typeface="Inter"/>
                <a:cs typeface="Inter"/>
                <a:sym typeface="Inter"/>
              </a:rPr>
              <a:t>When the ML model predicts failure with high confidence, the dashboard enters a critical state. Automated work orders are dispatched to engineering teams, detailing the exact machine node, the predicted failure mode, and required replacement parts.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47" name="Shape 447"/>
        <p:cNvGrpSpPr/>
        <p:nvPr/>
      </p:nvGrpSpPr>
      <p:grpSpPr>
        <a:xfrm>
          <a:off x="0" y="0"/>
          <a:ext cx="0" cy="0"/>
          <a:chOff x="0" y="0"/>
          <a:chExt cx="0" cy="0"/>
        </a:xfrm>
      </p:grpSpPr>
      <p:pic>
        <p:nvPicPr>
          <p:cNvPr descr="image.png" id="448" name="Google Shape;448;p3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49" name="Google Shape;449;p36"/>
          <p:cNvPicPr preferRelativeResize="0"/>
          <p:nvPr/>
        </p:nvPicPr>
        <p:blipFill rotWithShape="1">
          <a:blip r:embed="rId4">
            <a:alphaModFix/>
          </a:blip>
          <a:srcRect b="0" l="0" r="0" t="0"/>
          <a:stretch/>
        </p:blipFill>
        <p:spPr>
          <a:xfrm>
            <a:off x="5991225" y="2328862"/>
            <a:ext cx="5629275" cy="3143250"/>
          </a:xfrm>
          <a:prstGeom prst="rect">
            <a:avLst/>
          </a:prstGeom>
          <a:noFill/>
          <a:ln>
            <a:noFill/>
          </a:ln>
        </p:spPr>
      </p:pic>
      <p:sp>
        <p:nvSpPr>
          <p:cNvPr id="450" name="Google Shape;450;p36"/>
          <p:cNvSpPr txBox="1"/>
          <p:nvPr/>
        </p:nvSpPr>
        <p:spPr>
          <a:xfrm>
            <a:off x="571500" y="3048000"/>
            <a:ext cx="5038725" cy="1333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0500" u="none" cap="none" strike="noStrike">
                <a:solidFill>
                  <a:srgbClr val="30D158"/>
                </a:solidFill>
                <a:latin typeface="Inter"/>
                <a:ea typeface="Inter"/>
                <a:cs typeface="Inter"/>
                <a:sym typeface="Inter"/>
              </a:rPr>
              <a:t>98%</a:t>
            </a:r>
            <a:endParaRPr/>
          </a:p>
        </p:txBody>
      </p:sp>
      <p:sp>
        <p:nvSpPr>
          <p:cNvPr id="451" name="Google Shape;451;p36"/>
          <p:cNvSpPr txBox="1"/>
          <p:nvPr/>
        </p:nvSpPr>
        <p:spPr>
          <a:xfrm>
            <a:off x="571500" y="4476750"/>
            <a:ext cx="5038725"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F5F5F7"/>
                </a:solidFill>
                <a:latin typeface="Inter Medium"/>
                <a:ea typeface="Inter Medium"/>
                <a:cs typeface="Inter Medium"/>
                <a:sym typeface="Inter Medium"/>
              </a:rPr>
              <a:t>Prediction Accuracy</a:t>
            </a:r>
            <a:endParaRPr/>
          </a:p>
        </p:txBody>
      </p:sp>
      <p:sp>
        <p:nvSpPr>
          <p:cNvPr id="452" name="Google Shape;452;p36"/>
          <p:cNvSpPr txBox="1"/>
          <p:nvPr/>
        </p:nvSpPr>
        <p:spPr>
          <a:xfrm>
            <a:off x="6286500" y="2624137"/>
            <a:ext cx="5290661"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Transformative Efficiency</a:t>
            </a:r>
            <a:endParaRPr/>
          </a:p>
        </p:txBody>
      </p:sp>
      <p:sp>
        <p:nvSpPr>
          <p:cNvPr id="453" name="Google Shape;453;p36"/>
          <p:cNvSpPr txBox="1"/>
          <p:nvPr/>
        </p:nvSpPr>
        <p:spPr>
          <a:xfrm>
            <a:off x="6286500" y="3090862"/>
            <a:ext cx="503872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The implemented AI model achieves remarkable precision in classifying equipment states, minimizing costly false alarms.</a:t>
            </a:r>
            <a:endParaRPr/>
          </a:p>
        </p:txBody>
      </p:sp>
      <p:sp>
        <p:nvSpPr>
          <p:cNvPr id="454" name="Google Shape;454;p36"/>
          <p:cNvSpPr txBox="1"/>
          <p:nvPr/>
        </p:nvSpPr>
        <p:spPr>
          <a:xfrm>
            <a:off x="6286500" y="3748087"/>
            <a:ext cx="5038725" cy="12858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By integrating this system, industrial facilities can expect up to a 50% reduction in unplanned downtime, alongside significant optimizations in spare parts inventory and labor allocation. The transition from reactive to predictive maintenance yields an estimated 10x ROI.</a:t>
            </a:r>
            <a:endParaRPr/>
          </a:p>
        </p:txBody>
      </p:sp>
      <p:sp>
        <p:nvSpPr>
          <p:cNvPr id="455" name="Google Shape;455;p36"/>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Expected Results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59" name="Shape 459"/>
        <p:cNvGrpSpPr/>
        <p:nvPr/>
      </p:nvGrpSpPr>
      <p:grpSpPr>
        <a:xfrm>
          <a:off x="0" y="0"/>
          <a:ext cx="0" cy="0"/>
          <a:chOff x="0" y="0"/>
          <a:chExt cx="0" cy="0"/>
        </a:xfrm>
      </p:grpSpPr>
      <p:pic>
        <p:nvPicPr>
          <p:cNvPr descr="image.png" id="460" name="Google Shape;460;p3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61" name="Google Shape;461;p37"/>
          <p:cNvPicPr preferRelativeResize="0"/>
          <p:nvPr/>
        </p:nvPicPr>
        <p:blipFill rotWithShape="1">
          <a:blip r:embed="rId4">
            <a:alphaModFix/>
          </a:blip>
          <a:srcRect b="0" l="0" r="0" t="0"/>
          <a:stretch/>
        </p:blipFill>
        <p:spPr>
          <a:xfrm>
            <a:off x="571500" y="1514475"/>
            <a:ext cx="11049000" cy="4772025"/>
          </a:xfrm>
          <a:prstGeom prst="rect">
            <a:avLst/>
          </a:prstGeom>
          <a:noFill/>
          <a:ln>
            <a:noFill/>
          </a:ln>
        </p:spPr>
      </p:pic>
      <p:sp>
        <p:nvSpPr>
          <p:cNvPr id="462" name="Google Shape;462;p37"/>
          <p:cNvSpPr txBox="1"/>
          <p:nvPr/>
        </p:nvSpPr>
        <p:spPr>
          <a:xfrm>
            <a:off x="571500" y="3886200"/>
            <a:ext cx="857250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1" lang="en-US" sz="1350" u="none" cap="none" strike="noStrike">
                <a:solidFill>
                  <a:srgbClr val="86868B"/>
                </a:solidFill>
                <a:latin typeface="Inter"/>
                <a:ea typeface="Inter"/>
                <a:cs typeface="Inter"/>
                <a:sym typeface="Inter"/>
              </a:rPr>
              <a:t>The Random Forest classifier demonstrated exceptional performance on the test set. High precision ensures minimal false alarms, while high recall guarantees that true impending failures are rarely missed.</a:t>
            </a:r>
            <a:endParaRPr/>
          </a:p>
        </p:txBody>
      </p:sp>
      <p:sp>
        <p:nvSpPr>
          <p:cNvPr id="463" name="Google Shape;463;p37"/>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Performance Metrics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67" name="Shape 467"/>
        <p:cNvGrpSpPr/>
        <p:nvPr/>
      </p:nvGrpSpPr>
      <p:grpSpPr>
        <a:xfrm>
          <a:off x="0" y="0"/>
          <a:ext cx="0" cy="0"/>
          <a:chOff x="0" y="0"/>
          <a:chExt cx="0" cy="0"/>
        </a:xfrm>
      </p:grpSpPr>
      <p:pic>
        <p:nvPicPr>
          <p:cNvPr descr="image.png" id="468" name="Google Shape;468;p3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69" name="Google Shape;469;p38"/>
          <p:cNvPicPr preferRelativeResize="0"/>
          <p:nvPr/>
        </p:nvPicPr>
        <p:blipFill rotWithShape="1">
          <a:blip r:embed="rId4">
            <a:alphaModFix/>
          </a:blip>
          <a:srcRect b="0" l="0" r="0" t="0"/>
          <a:stretch/>
        </p:blipFill>
        <p:spPr>
          <a:xfrm>
            <a:off x="571500" y="1514475"/>
            <a:ext cx="3492549" cy="2381250"/>
          </a:xfrm>
          <a:prstGeom prst="rect">
            <a:avLst/>
          </a:prstGeom>
          <a:noFill/>
          <a:ln>
            <a:noFill/>
          </a:ln>
        </p:spPr>
      </p:pic>
      <p:pic>
        <p:nvPicPr>
          <p:cNvPr descr="A close-up of a high-tech manufacturing machine with glowing green and blue digital diagnostic telemetry overlay, symbolizing predictive maintenance, machine longevity, and extended equipment lifespan, dark industrial environment, photorealistic." id="470" name="Google Shape;470;p38"/>
          <p:cNvPicPr preferRelativeResize="0"/>
          <p:nvPr/>
        </p:nvPicPr>
        <p:blipFill rotWithShape="1">
          <a:blip r:embed="rId5">
            <a:alphaModFix/>
          </a:blip>
          <a:srcRect b="4545" l="0" r="0" t="4545"/>
          <a:stretch/>
        </p:blipFill>
        <p:spPr>
          <a:xfrm>
            <a:off x="4349801" y="1514475"/>
            <a:ext cx="3492600" cy="2381400"/>
          </a:xfrm>
          <a:prstGeom prst="roundRect">
            <a:avLst>
              <a:gd fmla="val 6400" name="adj"/>
            </a:avLst>
          </a:prstGeom>
          <a:noFill/>
          <a:ln>
            <a:noFill/>
          </a:ln>
        </p:spPr>
      </p:pic>
      <p:pic>
        <p:nvPicPr>
          <p:cNvPr descr="image.png" id="471" name="Google Shape;471;p38"/>
          <p:cNvPicPr preferRelativeResize="0"/>
          <p:nvPr/>
        </p:nvPicPr>
        <p:blipFill rotWithShape="1">
          <a:blip r:embed="rId6">
            <a:alphaModFix/>
          </a:blip>
          <a:srcRect b="0" l="0" r="0" t="0"/>
          <a:stretch/>
        </p:blipFill>
        <p:spPr>
          <a:xfrm>
            <a:off x="8128099" y="1514475"/>
            <a:ext cx="3492549" cy="2381250"/>
          </a:xfrm>
          <a:prstGeom prst="rect">
            <a:avLst/>
          </a:prstGeom>
          <a:noFill/>
          <a:ln>
            <a:noFill/>
          </a:ln>
        </p:spPr>
      </p:pic>
      <p:sp>
        <p:nvSpPr>
          <p:cNvPr id="472" name="Google Shape;472;p38"/>
          <p:cNvSpPr txBox="1"/>
          <p:nvPr/>
        </p:nvSpPr>
        <p:spPr>
          <a:xfrm>
            <a:off x="571500" y="4086225"/>
            <a:ext cx="36672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Cost Reduction</a:t>
            </a:r>
            <a:endParaRPr/>
          </a:p>
        </p:txBody>
      </p:sp>
      <p:sp>
        <p:nvSpPr>
          <p:cNvPr id="473" name="Google Shape;473;p38"/>
          <p:cNvSpPr txBox="1"/>
          <p:nvPr/>
        </p:nvSpPr>
        <p:spPr>
          <a:xfrm>
            <a:off x="571500" y="4552950"/>
            <a:ext cx="3492600" cy="831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Eliminates the massive financial burden of unscheduled production stoppages and emergency part shipments.</a:t>
            </a:r>
            <a:endParaRPr/>
          </a:p>
        </p:txBody>
      </p:sp>
      <p:sp>
        <p:nvSpPr>
          <p:cNvPr id="474" name="Google Shape;474;p38"/>
          <p:cNvSpPr txBox="1"/>
          <p:nvPr/>
        </p:nvSpPr>
        <p:spPr>
          <a:xfrm>
            <a:off x="4349799" y="4086225"/>
            <a:ext cx="36672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Extended Lifespan</a:t>
            </a:r>
            <a:endParaRPr/>
          </a:p>
        </p:txBody>
      </p:sp>
      <p:sp>
        <p:nvSpPr>
          <p:cNvPr id="475" name="Google Shape;475;p38"/>
          <p:cNvSpPr txBox="1"/>
          <p:nvPr/>
        </p:nvSpPr>
        <p:spPr>
          <a:xfrm>
            <a:off x="4349799" y="4552950"/>
            <a:ext cx="3492600" cy="831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Prevents minor component faults from escalating into catastrophic damage, extending overall asset longevity.</a:t>
            </a:r>
            <a:endParaRPr/>
          </a:p>
        </p:txBody>
      </p:sp>
      <p:sp>
        <p:nvSpPr>
          <p:cNvPr id="476" name="Google Shape;476;p38"/>
          <p:cNvSpPr txBox="1"/>
          <p:nvPr/>
        </p:nvSpPr>
        <p:spPr>
          <a:xfrm>
            <a:off x="8128099" y="4086225"/>
            <a:ext cx="36672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Enhanced Safety</a:t>
            </a:r>
            <a:endParaRPr/>
          </a:p>
        </p:txBody>
      </p:sp>
      <p:sp>
        <p:nvSpPr>
          <p:cNvPr id="477" name="Google Shape;477;p38"/>
          <p:cNvSpPr txBox="1"/>
          <p:nvPr/>
        </p:nvSpPr>
        <p:spPr>
          <a:xfrm>
            <a:off x="8128099" y="4552950"/>
            <a:ext cx="3492600" cy="831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Protects factory workers by addressing potential mechanical failures before they cause hazardous accidents.</a:t>
            </a:r>
            <a:endParaRPr/>
          </a:p>
        </p:txBody>
      </p:sp>
      <p:pic>
        <p:nvPicPr>
          <p:cNvPr descr="image.png" id="478" name="Google Shape;478;p38"/>
          <p:cNvPicPr preferRelativeResize="0"/>
          <p:nvPr/>
        </p:nvPicPr>
        <p:blipFill rotWithShape="1">
          <a:blip r:embed="rId7">
            <a:alphaModFix/>
          </a:blip>
          <a:srcRect b="0" l="0" r="0" t="0"/>
          <a:stretch/>
        </p:blipFill>
        <p:spPr>
          <a:xfrm>
            <a:off x="581025" y="1524000"/>
            <a:ext cx="3473499" cy="2362200"/>
          </a:xfrm>
          <a:prstGeom prst="rect">
            <a:avLst/>
          </a:prstGeom>
          <a:noFill/>
          <a:ln>
            <a:noFill/>
          </a:ln>
        </p:spPr>
      </p:pic>
      <p:pic>
        <p:nvPicPr>
          <p:cNvPr descr="image.png" id="479" name="Google Shape;479;p38"/>
          <p:cNvPicPr preferRelativeResize="0"/>
          <p:nvPr/>
        </p:nvPicPr>
        <p:blipFill rotWithShape="1">
          <a:blip r:embed="rId8">
            <a:alphaModFix/>
          </a:blip>
          <a:srcRect b="0" l="0" r="0" t="0"/>
          <a:stretch/>
        </p:blipFill>
        <p:spPr>
          <a:xfrm>
            <a:off x="8137624" y="1524000"/>
            <a:ext cx="3473499" cy="2362200"/>
          </a:xfrm>
          <a:prstGeom prst="rect">
            <a:avLst/>
          </a:prstGeom>
          <a:noFill/>
          <a:ln>
            <a:noFill/>
          </a:ln>
        </p:spPr>
      </p:pic>
      <p:sp>
        <p:nvSpPr>
          <p:cNvPr id="480" name="Google Shape;480;p38"/>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Key Advantages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84" name="Shape 484"/>
        <p:cNvGrpSpPr/>
        <p:nvPr/>
      </p:nvGrpSpPr>
      <p:grpSpPr>
        <a:xfrm>
          <a:off x="0" y="0"/>
          <a:ext cx="0" cy="0"/>
          <a:chOff x="0" y="0"/>
          <a:chExt cx="0" cy="0"/>
        </a:xfrm>
      </p:grpSpPr>
      <p:pic>
        <p:nvPicPr>
          <p:cNvPr descr="image.png" id="485" name="Google Shape;485;p3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86" name="Google Shape;486;p39"/>
          <p:cNvPicPr preferRelativeResize="0"/>
          <p:nvPr/>
        </p:nvPicPr>
        <p:blipFill rotWithShape="1">
          <a:blip r:embed="rId4">
            <a:alphaModFix/>
          </a:blip>
          <a:srcRect b="0" l="0" r="0" t="0"/>
          <a:stretch/>
        </p:blipFill>
        <p:spPr>
          <a:xfrm>
            <a:off x="571500" y="1514475"/>
            <a:ext cx="5334000" cy="4772025"/>
          </a:xfrm>
          <a:prstGeom prst="rect">
            <a:avLst/>
          </a:prstGeom>
          <a:noFill/>
          <a:ln>
            <a:noFill/>
          </a:ln>
        </p:spPr>
      </p:pic>
      <p:pic>
        <p:nvPicPr>
          <p:cNvPr descr="image.png" id="487" name="Google Shape;487;p39"/>
          <p:cNvPicPr preferRelativeResize="0"/>
          <p:nvPr/>
        </p:nvPicPr>
        <p:blipFill rotWithShape="1">
          <a:blip r:embed="rId5">
            <a:alphaModFix/>
          </a:blip>
          <a:srcRect b="0" l="0" r="0" t="0"/>
          <a:stretch/>
        </p:blipFill>
        <p:spPr>
          <a:xfrm>
            <a:off x="6286500" y="1514475"/>
            <a:ext cx="5334000" cy="4772025"/>
          </a:xfrm>
          <a:prstGeom prst="rect">
            <a:avLst/>
          </a:prstGeom>
          <a:noFill/>
          <a:ln>
            <a:noFill/>
          </a:ln>
        </p:spPr>
      </p:pic>
      <p:sp>
        <p:nvSpPr>
          <p:cNvPr id="488" name="Google Shape;488;p39"/>
          <p:cNvSpPr txBox="1"/>
          <p:nvPr/>
        </p:nvSpPr>
        <p:spPr>
          <a:xfrm>
            <a:off x="962025" y="1905000"/>
            <a:ext cx="478059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Infrastructure Costs</a:t>
            </a:r>
            <a:endParaRPr/>
          </a:p>
        </p:txBody>
      </p:sp>
      <p:sp>
        <p:nvSpPr>
          <p:cNvPr id="489" name="Google Shape;489;p39"/>
          <p:cNvSpPr txBox="1"/>
          <p:nvPr/>
        </p:nvSpPr>
        <p:spPr>
          <a:xfrm>
            <a:off x="962025" y="2371725"/>
            <a:ext cx="4552950"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Implementing a comprehensive predictive system requires substantial initial capital investment in high-fidelity IoT sensors, edge computing hardware, and cloud data pipelines.</a:t>
            </a:r>
            <a:endParaRPr/>
          </a:p>
        </p:txBody>
      </p:sp>
      <p:sp>
        <p:nvSpPr>
          <p:cNvPr id="490" name="Google Shape;490;p39"/>
          <p:cNvSpPr txBox="1"/>
          <p:nvPr/>
        </p:nvSpPr>
        <p:spPr>
          <a:xfrm>
            <a:off x="6677025" y="1905000"/>
            <a:ext cx="478059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5F5F7"/>
                </a:solidFill>
                <a:latin typeface="Inter SemiBold"/>
                <a:ea typeface="Inter SemiBold"/>
                <a:cs typeface="Inter SemiBold"/>
                <a:sym typeface="Inter SemiBold"/>
              </a:rPr>
              <a:t>Data Quality &amp; Skills</a:t>
            </a:r>
            <a:endParaRPr/>
          </a:p>
        </p:txBody>
      </p:sp>
      <p:sp>
        <p:nvSpPr>
          <p:cNvPr id="491" name="Google Shape;491;p39"/>
          <p:cNvSpPr txBox="1"/>
          <p:nvPr/>
        </p:nvSpPr>
        <p:spPr>
          <a:xfrm>
            <a:off x="6677025" y="2371725"/>
            <a:ext cx="4552950" cy="1028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AI models are entirely dependent on the quality of historical failure data. Furthermore, operating these systems requires a highly skilled workforce bridging mechanical engineering and data science.</a:t>
            </a:r>
            <a:endParaRPr/>
          </a:p>
        </p:txBody>
      </p:sp>
      <p:sp>
        <p:nvSpPr>
          <p:cNvPr id="492" name="Google Shape;492;p39"/>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Current Limitations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96" name="Shape 496"/>
        <p:cNvGrpSpPr/>
        <p:nvPr/>
      </p:nvGrpSpPr>
      <p:grpSpPr>
        <a:xfrm>
          <a:off x="0" y="0"/>
          <a:ext cx="0" cy="0"/>
          <a:chOff x="0" y="0"/>
          <a:chExt cx="0" cy="0"/>
        </a:xfrm>
      </p:grpSpPr>
      <p:pic>
        <p:nvPicPr>
          <p:cNvPr descr="image.png" id="497" name="Google Shape;497;p40"/>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498" name="Google Shape;498;p40"/>
          <p:cNvGrpSpPr/>
          <p:nvPr/>
        </p:nvGrpSpPr>
        <p:grpSpPr>
          <a:xfrm>
            <a:off x="571500" y="1524000"/>
            <a:ext cx="11049150" cy="4381500"/>
            <a:chOff x="571500" y="1524000"/>
            <a:chExt cx="11049150" cy="4381500"/>
          </a:xfrm>
        </p:grpSpPr>
        <p:sp>
          <p:nvSpPr>
            <p:cNvPr id="499" name="Google Shape;499;p40"/>
            <p:cNvSpPr/>
            <p:nvPr/>
          </p:nvSpPr>
          <p:spPr>
            <a:xfrm>
              <a:off x="571500" y="1524000"/>
              <a:ext cx="3486300" cy="4381500"/>
            </a:xfrm>
            <a:prstGeom prst="roundRect">
              <a:avLst>
                <a:gd fmla="val 4371" name="adj"/>
              </a:avLst>
            </a:prstGeom>
            <a:solidFill>
              <a:srgbClr val="121214"/>
            </a:solidFill>
            <a:ln cap="flat" cmpd="sng" w="9525">
              <a:solidFill>
                <a:srgbClr val="22222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p40"/>
            <p:cNvSpPr/>
            <p:nvPr/>
          </p:nvSpPr>
          <p:spPr>
            <a:xfrm>
              <a:off x="4352925" y="1524000"/>
              <a:ext cx="3486300" cy="4381500"/>
            </a:xfrm>
            <a:prstGeom prst="roundRect">
              <a:avLst>
                <a:gd fmla="val 4371" name="adj"/>
              </a:avLst>
            </a:prstGeom>
            <a:solidFill>
              <a:srgbClr val="121214"/>
            </a:solidFill>
            <a:ln cap="flat" cmpd="sng" w="9525">
              <a:solidFill>
                <a:srgbClr val="22222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1" name="Google Shape;501;p40"/>
            <p:cNvSpPr/>
            <p:nvPr/>
          </p:nvSpPr>
          <p:spPr>
            <a:xfrm>
              <a:off x="8134350" y="1524000"/>
              <a:ext cx="3486300" cy="4381500"/>
            </a:xfrm>
            <a:prstGeom prst="roundRect">
              <a:avLst>
                <a:gd fmla="val 4371" name="adj"/>
              </a:avLst>
            </a:prstGeom>
            <a:solidFill>
              <a:srgbClr val="121214"/>
            </a:solidFill>
            <a:ln cap="flat" cmpd="sng" w="9525">
              <a:solidFill>
                <a:srgbClr val="22222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02" name="Google Shape;502;p40"/>
            <p:cNvPicPr preferRelativeResize="0"/>
            <p:nvPr/>
          </p:nvPicPr>
          <p:blipFill rotWithShape="1">
            <a:blip r:embed="rId4">
              <a:alphaModFix/>
            </a:blip>
            <a:srcRect b="5885" l="0" r="0" t="5877"/>
            <a:stretch/>
          </p:blipFill>
          <p:spPr>
            <a:xfrm>
              <a:off x="571500" y="1524000"/>
              <a:ext cx="3486300" cy="2095500"/>
            </a:xfrm>
            <a:prstGeom prst="roundRect">
              <a:avLst>
                <a:gd fmla="val 7272" name="adj"/>
              </a:avLst>
            </a:prstGeom>
            <a:noFill/>
            <a:ln>
              <a:noFill/>
            </a:ln>
          </p:spPr>
        </p:pic>
        <p:pic>
          <p:nvPicPr>
            <p:cNvPr descr="A futuristic jet engine assembly line with holographic diagnostics and robotic calibration arms, clean aerospace laboratory, dark ambient lighting with blue and white neon accents, highly detailed, photorealistic." id="503" name="Google Shape;503;p40"/>
            <p:cNvPicPr preferRelativeResize="0"/>
            <p:nvPr/>
          </p:nvPicPr>
          <p:blipFill rotWithShape="1">
            <a:blip r:embed="rId5">
              <a:alphaModFix/>
            </a:blip>
            <a:srcRect b="0" l="3210" r="3210" t="0"/>
            <a:stretch/>
          </p:blipFill>
          <p:spPr>
            <a:xfrm>
              <a:off x="4352925" y="1524000"/>
              <a:ext cx="3486300" cy="2095500"/>
            </a:xfrm>
            <a:prstGeom prst="roundRect">
              <a:avLst>
                <a:gd fmla="val 7272" name="adj"/>
              </a:avLst>
            </a:prstGeom>
            <a:noFill/>
            <a:ln>
              <a:noFill/>
            </a:ln>
          </p:spPr>
        </p:pic>
        <p:pic>
          <p:nvPicPr>
            <p:cNvPr id="504" name="Google Shape;504;p40"/>
            <p:cNvPicPr preferRelativeResize="0"/>
            <p:nvPr/>
          </p:nvPicPr>
          <p:blipFill rotWithShape="1">
            <a:blip r:embed="rId6">
              <a:alphaModFix/>
            </a:blip>
            <a:srcRect b="5760" l="0" r="0" t="5760"/>
            <a:stretch/>
          </p:blipFill>
          <p:spPr>
            <a:xfrm>
              <a:off x="8134350" y="1524000"/>
              <a:ext cx="3486300" cy="2095500"/>
            </a:xfrm>
            <a:prstGeom prst="roundRect">
              <a:avLst>
                <a:gd fmla="val 7272" name="adj"/>
              </a:avLst>
            </a:prstGeom>
            <a:noFill/>
            <a:ln>
              <a:noFill/>
            </a:ln>
          </p:spPr>
        </p:pic>
        <p:sp>
          <p:nvSpPr>
            <p:cNvPr id="505" name="Google Shape;505;p40"/>
            <p:cNvSpPr txBox="1"/>
            <p:nvPr/>
          </p:nvSpPr>
          <p:spPr>
            <a:xfrm>
              <a:off x="800100" y="3857625"/>
              <a:ext cx="3029100" cy="18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000">
                  <a:solidFill>
                    <a:srgbClr val="F5F5F7"/>
                  </a:solidFill>
                  <a:latin typeface="Inter SemiBold"/>
                  <a:ea typeface="Inter SemiBold"/>
                  <a:cs typeface="Inter SemiBold"/>
                  <a:sym typeface="Inter SemiBold"/>
                </a:rPr>
                <a:t>Automotive</a:t>
              </a:r>
              <a:endParaRPr b="0" sz="2000">
                <a:solidFill>
                  <a:srgbClr val="F5F5F7"/>
                </a:solidFill>
                <a:latin typeface="Inter SemiBold"/>
                <a:ea typeface="Inter SemiBold"/>
                <a:cs typeface="Inter SemiBold"/>
                <a:sym typeface="Inter SemiBold"/>
              </a:endParaRPr>
            </a:p>
            <a:p>
              <a:pPr indent="0" lvl="0" marL="0" rtl="0" algn="l">
                <a:spcBef>
                  <a:spcPts val="900"/>
                </a:spcBef>
                <a:spcAft>
                  <a:spcPts val="0"/>
                </a:spcAft>
                <a:buNone/>
              </a:pPr>
              <a:r>
                <a:rPr b="0" lang="en-US" sz="1250">
                  <a:solidFill>
                    <a:srgbClr val="86868B"/>
                  </a:solidFill>
                  <a:latin typeface="Inter"/>
                  <a:ea typeface="Inter"/>
                  <a:cs typeface="Inter"/>
                  <a:sym typeface="Inter"/>
                </a:rPr>
                <a:t>Ensuring continuous operation of robotic welding and assembly lines to meet tight production quotas.</a:t>
              </a:r>
              <a:endParaRPr b="0" sz="1250">
                <a:solidFill>
                  <a:srgbClr val="86868B"/>
                </a:solidFill>
                <a:latin typeface="Inter"/>
                <a:ea typeface="Inter"/>
                <a:cs typeface="Inter"/>
                <a:sym typeface="Inter"/>
              </a:endParaRPr>
            </a:p>
          </p:txBody>
        </p:sp>
        <p:sp>
          <p:nvSpPr>
            <p:cNvPr id="506" name="Google Shape;506;p40"/>
            <p:cNvSpPr txBox="1"/>
            <p:nvPr/>
          </p:nvSpPr>
          <p:spPr>
            <a:xfrm>
              <a:off x="4581525" y="3857625"/>
              <a:ext cx="3029100" cy="18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000">
                  <a:solidFill>
                    <a:srgbClr val="F5F5F7"/>
                  </a:solidFill>
                  <a:latin typeface="Inter SemiBold"/>
                  <a:ea typeface="Inter SemiBold"/>
                  <a:cs typeface="Inter SemiBold"/>
                  <a:sym typeface="Inter SemiBold"/>
                </a:rPr>
                <a:t>Aerospace</a:t>
              </a:r>
              <a:endParaRPr b="0" sz="2000">
                <a:solidFill>
                  <a:srgbClr val="F5F5F7"/>
                </a:solidFill>
                <a:latin typeface="Inter SemiBold"/>
                <a:ea typeface="Inter SemiBold"/>
                <a:cs typeface="Inter SemiBold"/>
                <a:sym typeface="Inter SemiBold"/>
              </a:endParaRPr>
            </a:p>
            <a:p>
              <a:pPr indent="0" lvl="0" marL="0" rtl="0" algn="l">
                <a:spcBef>
                  <a:spcPts val="900"/>
                </a:spcBef>
                <a:spcAft>
                  <a:spcPts val="0"/>
                </a:spcAft>
                <a:buNone/>
              </a:pPr>
              <a:r>
                <a:rPr b="0" lang="en-US" sz="1250">
                  <a:solidFill>
                    <a:srgbClr val="86868B"/>
                  </a:solidFill>
                  <a:latin typeface="Inter"/>
                  <a:ea typeface="Inter"/>
                  <a:cs typeface="Inter"/>
                  <a:sym typeface="Inter"/>
                </a:rPr>
                <a:t>Monitoring jet engine components in real-time to guarantee absolute safety and operational reliability.</a:t>
              </a:r>
              <a:endParaRPr b="0" sz="1250">
                <a:solidFill>
                  <a:srgbClr val="86868B"/>
                </a:solidFill>
                <a:latin typeface="Inter"/>
                <a:ea typeface="Inter"/>
                <a:cs typeface="Inter"/>
                <a:sym typeface="Inter"/>
              </a:endParaRPr>
            </a:p>
          </p:txBody>
        </p:sp>
        <p:sp>
          <p:nvSpPr>
            <p:cNvPr id="507" name="Google Shape;507;p40"/>
            <p:cNvSpPr txBox="1"/>
            <p:nvPr/>
          </p:nvSpPr>
          <p:spPr>
            <a:xfrm>
              <a:off x="8362950" y="3857625"/>
              <a:ext cx="3029100" cy="18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000">
                  <a:solidFill>
                    <a:srgbClr val="F5F5F7"/>
                  </a:solidFill>
                  <a:latin typeface="Inter SemiBold"/>
                  <a:ea typeface="Inter SemiBold"/>
                  <a:cs typeface="Inter SemiBold"/>
                  <a:sym typeface="Inter SemiBold"/>
                </a:rPr>
                <a:t>Smart Cities</a:t>
              </a:r>
              <a:endParaRPr b="0" sz="2000">
                <a:solidFill>
                  <a:srgbClr val="F5F5F7"/>
                </a:solidFill>
                <a:latin typeface="Inter SemiBold"/>
                <a:ea typeface="Inter SemiBold"/>
                <a:cs typeface="Inter SemiBold"/>
                <a:sym typeface="Inter SemiBold"/>
              </a:endParaRPr>
            </a:p>
            <a:p>
              <a:pPr indent="0" lvl="0" marL="0" rtl="0" algn="l">
                <a:spcBef>
                  <a:spcPts val="900"/>
                </a:spcBef>
                <a:spcAft>
                  <a:spcPts val="0"/>
                </a:spcAft>
                <a:buNone/>
              </a:pPr>
              <a:r>
                <a:rPr b="0" lang="en-US" sz="1250">
                  <a:solidFill>
                    <a:srgbClr val="86868B"/>
                  </a:solidFill>
                  <a:latin typeface="Inter"/>
                  <a:ea typeface="Inter"/>
                  <a:cs typeface="Inter"/>
                  <a:sym typeface="Inter"/>
                </a:rPr>
                <a:t>Predicting failures in critical public infrastructure, such as power grids and water treatment facilities.</a:t>
              </a:r>
              <a:endParaRPr b="0" sz="1250">
                <a:solidFill>
                  <a:srgbClr val="86868B"/>
                </a:solidFill>
                <a:latin typeface="Inter"/>
                <a:ea typeface="Inter"/>
                <a:cs typeface="Inter"/>
                <a:sym typeface="Inter"/>
              </a:endParaRPr>
            </a:p>
          </p:txBody>
        </p:sp>
      </p:grpSp>
      <p:sp>
        <p:nvSpPr>
          <p:cNvPr id="508" name="Google Shape;508;p40"/>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Industrial Applications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12" name="Shape 512"/>
        <p:cNvGrpSpPr/>
        <p:nvPr/>
      </p:nvGrpSpPr>
      <p:grpSpPr>
        <a:xfrm>
          <a:off x="0" y="0"/>
          <a:ext cx="0" cy="0"/>
          <a:chOff x="0" y="0"/>
          <a:chExt cx="0" cy="0"/>
        </a:xfrm>
      </p:grpSpPr>
      <p:pic>
        <p:nvPicPr>
          <p:cNvPr descr="image.png" id="513" name="Google Shape;513;p4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14" name="Google Shape;514;p41"/>
          <p:cNvPicPr preferRelativeResize="0"/>
          <p:nvPr/>
        </p:nvPicPr>
        <p:blipFill rotWithShape="1">
          <a:blip r:embed="rId4">
            <a:alphaModFix/>
          </a:blip>
          <a:srcRect b="0" l="0" r="0" t="0"/>
          <a:stretch/>
        </p:blipFill>
        <p:spPr>
          <a:xfrm>
            <a:off x="571500" y="1514475"/>
            <a:ext cx="3492549" cy="3095625"/>
          </a:xfrm>
          <a:prstGeom prst="rect">
            <a:avLst/>
          </a:prstGeom>
          <a:noFill/>
          <a:ln>
            <a:noFill/>
          </a:ln>
        </p:spPr>
      </p:pic>
      <p:pic>
        <p:nvPicPr>
          <p:cNvPr descr="image.png" id="515" name="Google Shape;515;p41"/>
          <p:cNvPicPr preferRelativeResize="0"/>
          <p:nvPr/>
        </p:nvPicPr>
        <p:blipFill rotWithShape="1">
          <a:blip r:embed="rId5">
            <a:alphaModFix/>
          </a:blip>
          <a:srcRect b="0" l="0" r="0" t="0"/>
          <a:stretch/>
        </p:blipFill>
        <p:spPr>
          <a:xfrm>
            <a:off x="4349799" y="1514475"/>
            <a:ext cx="3492549" cy="3095625"/>
          </a:xfrm>
          <a:prstGeom prst="rect">
            <a:avLst/>
          </a:prstGeom>
          <a:noFill/>
          <a:ln>
            <a:noFill/>
          </a:ln>
        </p:spPr>
      </p:pic>
      <p:pic>
        <p:nvPicPr>
          <p:cNvPr descr="image.png" id="516" name="Google Shape;516;p41"/>
          <p:cNvPicPr preferRelativeResize="0"/>
          <p:nvPr/>
        </p:nvPicPr>
        <p:blipFill rotWithShape="1">
          <a:blip r:embed="rId6">
            <a:alphaModFix/>
          </a:blip>
          <a:srcRect b="0" l="0" r="0" t="0"/>
          <a:stretch/>
        </p:blipFill>
        <p:spPr>
          <a:xfrm>
            <a:off x="8128099" y="1514475"/>
            <a:ext cx="3492549" cy="3095625"/>
          </a:xfrm>
          <a:prstGeom prst="rect">
            <a:avLst/>
          </a:prstGeom>
          <a:noFill/>
          <a:ln>
            <a:noFill/>
          </a:ln>
        </p:spPr>
      </p:pic>
      <p:sp>
        <p:nvSpPr>
          <p:cNvPr id="517" name="Google Shape;517;p41"/>
          <p:cNvSpPr txBox="1"/>
          <p:nvPr/>
        </p:nvSpPr>
        <p:spPr>
          <a:xfrm>
            <a:off x="866775"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AR/VR Integration</a:t>
            </a:r>
            <a:endParaRPr/>
          </a:p>
        </p:txBody>
      </p:sp>
      <p:sp>
        <p:nvSpPr>
          <p:cNvPr id="518" name="Google Shape;518;p41"/>
          <p:cNvSpPr txBox="1"/>
          <p:nvPr/>
        </p:nvSpPr>
        <p:spPr>
          <a:xfrm>
            <a:off x="866775" y="2981325"/>
            <a:ext cx="2901999" cy="914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Engineers wearing AR headsets can view live digital twin data overlaid directly onto physical machines on the factory floor.</a:t>
            </a:r>
            <a:endParaRPr/>
          </a:p>
        </p:txBody>
      </p:sp>
      <p:sp>
        <p:nvSpPr>
          <p:cNvPr id="519" name="Google Shape;519;p41"/>
          <p:cNvSpPr txBox="1"/>
          <p:nvPr/>
        </p:nvSpPr>
        <p:spPr>
          <a:xfrm>
            <a:off x="4645074"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Edge AI</a:t>
            </a:r>
            <a:endParaRPr/>
          </a:p>
        </p:txBody>
      </p:sp>
      <p:sp>
        <p:nvSpPr>
          <p:cNvPr id="520" name="Google Shape;520;p41"/>
          <p:cNvSpPr txBox="1"/>
          <p:nvPr/>
        </p:nvSpPr>
        <p:spPr>
          <a:xfrm>
            <a:off x="4645074" y="2981325"/>
            <a:ext cx="2901999" cy="914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Moving inference from the cloud directly to edge devices to achieve ultra-low latency alerts without relying on internet connectivity.</a:t>
            </a:r>
            <a:endParaRPr/>
          </a:p>
        </p:txBody>
      </p:sp>
      <p:sp>
        <p:nvSpPr>
          <p:cNvPr id="521" name="Google Shape;521;p41"/>
          <p:cNvSpPr txBox="1"/>
          <p:nvPr/>
        </p:nvSpPr>
        <p:spPr>
          <a:xfrm>
            <a:off x="8423374" y="2562225"/>
            <a:ext cx="304709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5F5F7"/>
                </a:solidFill>
                <a:latin typeface="Inter SemiBold"/>
                <a:ea typeface="Inter SemiBold"/>
                <a:cs typeface="Inter SemiBold"/>
                <a:sym typeface="Inter SemiBold"/>
              </a:rPr>
              <a:t>Generative AI</a:t>
            </a:r>
            <a:endParaRPr/>
          </a:p>
        </p:txBody>
      </p:sp>
      <p:sp>
        <p:nvSpPr>
          <p:cNvPr id="522" name="Google Shape;522;p41"/>
          <p:cNvSpPr txBox="1"/>
          <p:nvPr/>
        </p:nvSpPr>
        <p:spPr>
          <a:xfrm>
            <a:off x="8423374" y="2981325"/>
            <a:ext cx="2901999"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Integrating Large Language Models (LLMs) to automatically generate comprehensive repair manuals and maintenance reports based on anomaly data.</a:t>
            </a:r>
            <a:endParaRPr/>
          </a:p>
        </p:txBody>
      </p:sp>
      <p:pic>
        <p:nvPicPr>
          <p:cNvPr descr="image.png" id="523" name="Google Shape;523;p41"/>
          <p:cNvPicPr preferRelativeResize="0"/>
          <p:nvPr/>
        </p:nvPicPr>
        <p:blipFill rotWithShape="1">
          <a:blip r:embed="rId7">
            <a:alphaModFix/>
          </a:blip>
          <a:srcRect b="0" l="0" r="0" t="0"/>
          <a:stretch/>
        </p:blipFill>
        <p:spPr>
          <a:xfrm>
            <a:off x="866775" y="1895475"/>
            <a:ext cx="476250" cy="381000"/>
          </a:xfrm>
          <a:prstGeom prst="rect">
            <a:avLst/>
          </a:prstGeom>
          <a:noFill/>
          <a:ln>
            <a:noFill/>
          </a:ln>
        </p:spPr>
      </p:pic>
      <p:pic>
        <p:nvPicPr>
          <p:cNvPr descr="image.png" id="524" name="Google Shape;524;p41"/>
          <p:cNvPicPr preferRelativeResize="0"/>
          <p:nvPr/>
        </p:nvPicPr>
        <p:blipFill rotWithShape="1">
          <a:blip r:embed="rId8">
            <a:alphaModFix/>
          </a:blip>
          <a:srcRect b="0" l="0" r="0" t="0"/>
          <a:stretch/>
        </p:blipFill>
        <p:spPr>
          <a:xfrm>
            <a:off x="4645074" y="1895475"/>
            <a:ext cx="381000" cy="381000"/>
          </a:xfrm>
          <a:prstGeom prst="rect">
            <a:avLst/>
          </a:prstGeom>
          <a:noFill/>
          <a:ln>
            <a:noFill/>
          </a:ln>
        </p:spPr>
      </p:pic>
      <p:pic>
        <p:nvPicPr>
          <p:cNvPr descr="image.png" id="525" name="Google Shape;525;p41"/>
          <p:cNvPicPr preferRelativeResize="0"/>
          <p:nvPr/>
        </p:nvPicPr>
        <p:blipFill rotWithShape="1">
          <a:blip r:embed="rId9">
            <a:alphaModFix/>
          </a:blip>
          <a:srcRect b="0" l="0" r="0" t="0"/>
          <a:stretch/>
        </p:blipFill>
        <p:spPr>
          <a:xfrm>
            <a:off x="8423374" y="1895475"/>
            <a:ext cx="476250" cy="381000"/>
          </a:xfrm>
          <a:prstGeom prst="rect">
            <a:avLst/>
          </a:prstGeom>
          <a:noFill/>
          <a:ln>
            <a:noFill/>
          </a:ln>
        </p:spPr>
      </p:pic>
      <p:sp>
        <p:nvSpPr>
          <p:cNvPr id="526" name="Google Shape;526;p41"/>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Future Scope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30" name="Shape 530"/>
        <p:cNvGrpSpPr/>
        <p:nvPr/>
      </p:nvGrpSpPr>
      <p:grpSpPr>
        <a:xfrm>
          <a:off x="0" y="0"/>
          <a:ext cx="0" cy="0"/>
          <a:chOff x="0" y="0"/>
          <a:chExt cx="0" cy="0"/>
        </a:xfrm>
      </p:grpSpPr>
      <p:pic>
        <p:nvPicPr>
          <p:cNvPr descr="image.png" id="531" name="Google Shape;531;p4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32" name="Google Shape;532;p42"/>
          <p:cNvSpPr/>
          <p:nvPr/>
        </p:nvSpPr>
        <p:spPr>
          <a:xfrm>
            <a:off x="5715000" y="2095500"/>
            <a:ext cx="762000" cy="38100"/>
          </a:xfrm>
          <a:prstGeom prst="rect">
            <a:avLst/>
          </a:prstGeom>
          <a:solidFill>
            <a:srgbClr val="0A84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3" name="Google Shape;533;p42"/>
          <p:cNvSpPr txBox="1"/>
          <p:nvPr/>
        </p:nvSpPr>
        <p:spPr>
          <a:xfrm>
            <a:off x="4355782" y="2419350"/>
            <a:ext cx="3480435" cy="7334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4800" u="none" cap="none" strike="noStrike">
                <a:solidFill>
                  <a:srgbClr val="F5F5F7"/>
                </a:solidFill>
                <a:latin typeface="Inter SemiBold"/>
                <a:ea typeface="Inter SemiBold"/>
                <a:cs typeface="Inter SemiBold"/>
                <a:sym typeface="Inter SemiBold"/>
              </a:rPr>
              <a:t>Conclusion</a:t>
            </a:r>
            <a:endParaRPr/>
          </a:p>
        </p:txBody>
      </p:sp>
      <p:sp>
        <p:nvSpPr>
          <p:cNvPr id="534" name="Google Shape;534;p42"/>
          <p:cNvSpPr txBox="1"/>
          <p:nvPr/>
        </p:nvSpPr>
        <p:spPr>
          <a:xfrm>
            <a:off x="1809750" y="3533775"/>
            <a:ext cx="8572500" cy="1371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F5F5F7"/>
                </a:solidFill>
                <a:latin typeface="Inter"/>
                <a:ea typeface="Inter"/>
                <a:cs typeface="Inter"/>
                <a:sym typeface="Inter"/>
              </a:rPr>
              <a:t>The integration of AI-powered Digital Twins fundamentally transforms industrial maintenance. By shifting from reactive repairs to intelligent, data-driven foresight, we establish a manufacturing paradigm that is drastically more efficient, safe, and economically resilient.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38" name="Shape 538"/>
        <p:cNvGrpSpPr/>
        <p:nvPr/>
      </p:nvGrpSpPr>
      <p:grpSpPr>
        <a:xfrm>
          <a:off x="0" y="0"/>
          <a:ext cx="0" cy="0"/>
          <a:chOff x="0" y="0"/>
          <a:chExt cx="0" cy="0"/>
        </a:xfrm>
      </p:grpSpPr>
      <p:pic>
        <p:nvPicPr>
          <p:cNvPr descr="image.png" id="539" name="Google Shape;539;p4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40" name="Google Shape;540;p43"/>
          <p:cNvPicPr preferRelativeResize="0"/>
          <p:nvPr/>
        </p:nvPicPr>
        <p:blipFill rotWithShape="1">
          <a:blip r:embed="rId4">
            <a:alphaModFix/>
          </a:blip>
          <a:srcRect b="0" l="0" r="0" t="0"/>
          <a:stretch/>
        </p:blipFill>
        <p:spPr>
          <a:xfrm>
            <a:off x="571500" y="1514475"/>
            <a:ext cx="11049000" cy="2571750"/>
          </a:xfrm>
          <a:prstGeom prst="rect">
            <a:avLst/>
          </a:prstGeom>
          <a:noFill/>
          <a:ln>
            <a:noFill/>
          </a:ln>
        </p:spPr>
      </p:pic>
      <p:sp>
        <p:nvSpPr>
          <p:cNvPr id="541" name="Google Shape;541;p43"/>
          <p:cNvSpPr txBox="1"/>
          <p:nvPr/>
        </p:nvSpPr>
        <p:spPr>
          <a:xfrm>
            <a:off x="1295400" y="1809750"/>
            <a:ext cx="1002982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Deloitte Advanced Manufacturing Report (2024). "The Financial Impact of Unplanned Equipment Downtime."</a:t>
            </a:r>
            <a:endParaRPr/>
          </a:p>
        </p:txBody>
      </p:sp>
      <p:sp>
        <p:nvSpPr>
          <p:cNvPr id="542" name="Google Shape;542;p43"/>
          <p:cNvSpPr txBox="1"/>
          <p:nvPr/>
        </p:nvSpPr>
        <p:spPr>
          <a:xfrm>
            <a:off x="1295400" y="2305050"/>
            <a:ext cx="1002982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Aberdeen Research Group (2024). "Predictive Maintenance and the True Cost of Asset Failure."</a:t>
            </a:r>
            <a:endParaRPr/>
          </a:p>
        </p:txBody>
      </p:sp>
      <p:sp>
        <p:nvSpPr>
          <p:cNvPr id="543" name="Google Shape;543;p43"/>
          <p:cNvSpPr txBox="1"/>
          <p:nvPr/>
        </p:nvSpPr>
        <p:spPr>
          <a:xfrm>
            <a:off x="1295400" y="2800350"/>
            <a:ext cx="1002982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Machine Learning in Industry 4.0: Applications and Trends. IEEE Transactions on Industrial Informatics.</a:t>
            </a:r>
            <a:endParaRPr/>
          </a:p>
        </p:txBody>
      </p:sp>
      <p:sp>
        <p:nvSpPr>
          <p:cNvPr id="544" name="Google Shape;544;p43"/>
          <p:cNvSpPr txBox="1"/>
          <p:nvPr/>
        </p:nvSpPr>
        <p:spPr>
          <a:xfrm>
            <a:off x="1295400" y="3295650"/>
            <a:ext cx="1002982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86868B"/>
                </a:solidFill>
                <a:latin typeface="Inter"/>
                <a:ea typeface="Inter"/>
                <a:cs typeface="Inter"/>
                <a:sym typeface="Inter"/>
              </a:rPr>
              <a:t>Pedregosa, F. et al. (2011). Scikit-learn: Machine Learning in Python. JMLR 12, pp. 2825-2830.</a:t>
            </a:r>
            <a:endParaRPr/>
          </a:p>
        </p:txBody>
      </p:sp>
      <p:pic>
        <p:nvPicPr>
          <p:cNvPr descr="image.png" id="545" name="Google Shape;545;p43"/>
          <p:cNvPicPr preferRelativeResize="0"/>
          <p:nvPr/>
        </p:nvPicPr>
        <p:blipFill rotWithShape="1">
          <a:blip r:embed="rId5">
            <a:alphaModFix/>
          </a:blip>
          <a:srcRect b="0" l="0" r="0" t="0"/>
          <a:stretch/>
        </p:blipFill>
        <p:spPr>
          <a:xfrm>
            <a:off x="866775" y="1819275"/>
            <a:ext cx="171450" cy="247650"/>
          </a:xfrm>
          <a:prstGeom prst="rect">
            <a:avLst/>
          </a:prstGeom>
          <a:noFill/>
          <a:ln>
            <a:noFill/>
          </a:ln>
        </p:spPr>
      </p:pic>
      <p:pic>
        <p:nvPicPr>
          <p:cNvPr descr="image.png" id="546" name="Google Shape;546;p43"/>
          <p:cNvPicPr preferRelativeResize="0"/>
          <p:nvPr/>
        </p:nvPicPr>
        <p:blipFill rotWithShape="1">
          <a:blip r:embed="rId5">
            <a:alphaModFix/>
          </a:blip>
          <a:srcRect b="0" l="0" r="0" t="0"/>
          <a:stretch/>
        </p:blipFill>
        <p:spPr>
          <a:xfrm>
            <a:off x="866775" y="2314575"/>
            <a:ext cx="171450" cy="247650"/>
          </a:xfrm>
          <a:prstGeom prst="rect">
            <a:avLst/>
          </a:prstGeom>
          <a:noFill/>
          <a:ln>
            <a:noFill/>
          </a:ln>
        </p:spPr>
      </p:pic>
      <p:pic>
        <p:nvPicPr>
          <p:cNvPr descr="image.png" id="547" name="Google Shape;547;p43"/>
          <p:cNvPicPr preferRelativeResize="0"/>
          <p:nvPr/>
        </p:nvPicPr>
        <p:blipFill rotWithShape="1">
          <a:blip r:embed="rId6">
            <a:alphaModFix/>
          </a:blip>
          <a:srcRect b="0" l="0" r="0" t="0"/>
          <a:stretch/>
        </p:blipFill>
        <p:spPr>
          <a:xfrm>
            <a:off x="866775" y="2809875"/>
            <a:ext cx="200025" cy="247650"/>
          </a:xfrm>
          <a:prstGeom prst="rect">
            <a:avLst/>
          </a:prstGeom>
          <a:noFill/>
          <a:ln>
            <a:noFill/>
          </a:ln>
        </p:spPr>
      </p:pic>
      <p:pic>
        <p:nvPicPr>
          <p:cNvPr descr="image.png" id="548" name="Google Shape;548;p43"/>
          <p:cNvPicPr preferRelativeResize="0"/>
          <p:nvPr/>
        </p:nvPicPr>
        <p:blipFill rotWithShape="1">
          <a:blip r:embed="rId7">
            <a:alphaModFix/>
          </a:blip>
          <a:srcRect b="0" l="0" r="0" t="0"/>
          <a:stretch/>
        </p:blipFill>
        <p:spPr>
          <a:xfrm>
            <a:off x="866775" y="3305175"/>
            <a:ext cx="285750" cy="247650"/>
          </a:xfrm>
          <a:prstGeom prst="rect">
            <a:avLst/>
          </a:prstGeom>
          <a:noFill/>
          <a:ln>
            <a:noFill/>
          </a:ln>
        </p:spPr>
      </p:pic>
      <p:sp>
        <p:nvSpPr>
          <p:cNvPr id="549" name="Google Shape;549;p43"/>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References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53" name="Shape 553"/>
        <p:cNvGrpSpPr/>
        <p:nvPr/>
      </p:nvGrpSpPr>
      <p:grpSpPr>
        <a:xfrm>
          <a:off x="0" y="0"/>
          <a:ext cx="0" cy="0"/>
          <a:chOff x="0" y="0"/>
          <a:chExt cx="0" cy="0"/>
        </a:xfrm>
      </p:grpSpPr>
      <p:pic>
        <p:nvPicPr>
          <p:cNvPr descr="image.png" id="554" name="Google Shape;554;p4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55" name="Google Shape;555;p44"/>
          <p:cNvSpPr txBox="1"/>
          <p:nvPr/>
        </p:nvSpPr>
        <p:spPr>
          <a:xfrm>
            <a:off x="295275" y="571500"/>
            <a:ext cx="11601450" cy="1038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6750" u="none" cap="none" strike="noStrike">
                <a:solidFill>
                  <a:srgbClr val="F5F5F7"/>
                </a:solidFill>
                <a:latin typeface="Inter SemiBold"/>
                <a:ea typeface="Inter SemiBold"/>
                <a:cs typeface="Inter SemiBold"/>
                <a:sym typeface="Inter SemiBold"/>
              </a:rPr>
              <a:t>Thank You</a:t>
            </a:r>
            <a:endParaRPr/>
          </a:p>
        </p:txBody>
      </p:sp>
      <p:sp>
        <p:nvSpPr>
          <p:cNvPr id="556" name="Google Shape;556;p44"/>
          <p:cNvSpPr txBox="1"/>
          <p:nvPr/>
        </p:nvSpPr>
        <p:spPr>
          <a:xfrm>
            <a:off x="571500" y="1800225"/>
            <a:ext cx="11049000" cy="4000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2100" u="none" cap="none" strike="noStrike">
                <a:solidFill>
                  <a:srgbClr val="86868B"/>
                </a:solidFill>
                <a:latin typeface="Inter"/>
                <a:ea typeface="Inter"/>
                <a:cs typeface="Inter"/>
                <a:sym typeface="Inter"/>
              </a:rPr>
              <a:t>Open for Questions</a:t>
            </a:r>
            <a:endParaRPr/>
          </a:p>
        </p:txBody>
      </p:sp>
      <p:sp>
        <p:nvSpPr>
          <p:cNvPr id="557" name="Google Shape;557;p44"/>
          <p:cNvSpPr txBox="1"/>
          <p:nvPr/>
        </p:nvSpPr>
        <p:spPr>
          <a:xfrm>
            <a:off x="571500" y="2676525"/>
            <a:ext cx="11049000"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0A84FF"/>
                </a:solidFill>
                <a:latin typeface="Inter"/>
                <a:ea typeface="Inter"/>
                <a:cs typeface="Inter"/>
                <a:sym typeface="Inter"/>
              </a:rPr>
              <a:t>Intelligent Predictive Maintenance System | B.Tech Project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61" name="Shape 561"/>
        <p:cNvGrpSpPr/>
        <p:nvPr/>
      </p:nvGrpSpPr>
      <p:grpSpPr>
        <a:xfrm>
          <a:off x="0" y="0"/>
          <a:ext cx="0" cy="0"/>
          <a:chOff x="0" y="0"/>
          <a:chExt cx="0" cy="0"/>
        </a:xfrm>
      </p:grpSpPr>
      <p:pic>
        <p:nvPicPr>
          <p:cNvPr descr="image.png" id="562" name="Google Shape;562;p4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63" name="Google Shape;563;p45"/>
          <p:cNvSpPr/>
          <p:nvPr/>
        </p:nvSpPr>
        <p:spPr>
          <a:xfrm>
            <a:off x="571500" y="1514475"/>
            <a:ext cx="1104900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4" name="Google Shape;564;p45"/>
          <p:cNvSpPr/>
          <p:nvPr/>
        </p:nvSpPr>
        <p:spPr>
          <a:xfrm>
            <a:off x="571500" y="2286000"/>
            <a:ext cx="11049000" cy="94297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5" name="Google Shape;565;p45"/>
          <p:cNvSpPr/>
          <p:nvPr/>
        </p:nvSpPr>
        <p:spPr>
          <a:xfrm>
            <a:off x="571500" y="3228975"/>
            <a:ext cx="1104900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6" name="Google Shape;566;p45"/>
          <p:cNvSpPr/>
          <p:nvPr/>
        </p:nvSpPr>
        <p:spPr>
          <a:xfrm>
            <a:off x="571500" y="4000500"/>
            <a:ext cx="1104900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7" name="Google Shape;567;p45"/>
          <p:cNvSpPr/>
          <p:nvPr/>
        </p:nvSpPr>
        <p:spPr>
          <a:xfrm>
            <a:off x="571500" y="4772025"/>
            <a:ext cx="1104900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8" name="Google Shape;568;p45"/>
          <p:cNvSpPr/>
          <p:nvPr/>
        </p:nvSpPr>
        <p:spPr>
          <a:xfrm>
            <a:off x="571500" y="227647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9" name="Google Shape;569;p45"/>
          <p:cNvSpPr/>
          <p:nvPr/>
        </p:nvSpPr>
        <p:spPr>
          <a:xfrm>
            <a:off x="571500" y="227647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0" name="Google Shape;570;p45"/>
          <p:cNvSpPr/>
          <p:nvPr/>
        </p:nvSpPr>
        <p:spPr>
          <a:xfrm>
            <a:off x="571500" y="321945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1" name="Google Shape;571;p45"/>
          <p:cNvSpPr/>
          <p:nvPr/>
        </p:nvSpPr>
        <p:spPr>
          <a:xfrm>
            <a:off x="571500" y="321945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2" name="Google Shape;572;p45"/>
          <p:cNvSpPr/>
          <p:nvPr/>
        </p:nvSpPr>
        <p:spPr>
          <a:xfrm>
            <a:off x="571500" y="399097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3" name="Google Shape;573;p45"/>
          <p:cNvSpPr/>
          <p:nvPr/>
        </p:nvSpPr>
        <p:spPr>
          <a:xfrm>
            <a:off x="571500" y="399097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4" name="Google Shape;574;p45"/>
          <p:cNvSpPr/>
          <p:nvPr/>
        </p:nvSpPr>
        <p:spPr>
          <a:xfrm>
            <a:off x="571500" y="476250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5" name="Google Shape;575;p45"/>
          <p:cNvSpPr/>
          <p:nvPr/>
        </p:nvSpPr>
        <p:spPr>
          <a:xfrm>
            <a:off x="571500" y="476250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6" name="Google Shape;576;p45"/>
          <p:cNvSpPr/>
          <p:nvPr/>
        </p:nvSpPr>
        <p:spPr>
          <a:xfrm>
            <a:off x="571500" y="553402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7" name="Google Shape;577;p45"/>
          <p:cNvSpPr/>
          <p:nvPr/>
        </p:nvSpPr>
        <p:spPr>
          <a:xfrm>
            <a:off x="571500" y="553402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578" name="Google Shape;578;p45"/>
          <p:cNvPicPr preferRelativeResize="0"/>
          <p:nvPr/>
        </p:nvPicPr>
        <p:blipFill rotWithShape="1">
          <a:blip r:embed="rId4">
            <a:alphaModFix/>
          </a:blip>
          <a:srcRect b="0" l="0" r="0" t="0"/>
          <a:stretch/>
        </p:blipFill>
        <p:spPr>
          <a:xfrm>
            <a:off x="571500" y="1657350"/>
            <a:ext cx="857250" cy="476250"/>
          </a:xfrm>
          <a:prstGeom prst="rect">
            <a:avLst/>
          </a:prstGeom>
          <a:noFill/>
          <a:ln>
            <a:noFill/>
          </a:ln>
        </p:spPr>
      </p:pic>
      <p:sp>
        <p:nvSpPr>
          <p:cNvPr id="579" name="Google Shape;579;p45"/>
          <p:cNvSpPr txBox="1"/>
          <p:nvPr/>
        </p:nvSpPr>
        <p:spPr>
          <a:xfrm>
            <a:off x="1666875" y="1664493"/>
            <a:ext cx="99536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https://hartmanadvisors.com/wp-content/uploads/33eda7b9-867d-4309-badd-3477ad1ee5e8.png</a:t>
            </a:r>
            <a:endParaRPr/>
          </a:p>
        </p:txBody>
      </p:sp>
      <p:sp>
        <p:nvSpPr>
          <p:cNvPr id="580" name="Google Shape;580;p45"/>
          <p:cNvSpPr txBox="1"/>
          <p:nvPr/>
        </p:nvSpPr>
        <p:spPr>
          <a:xfrm>
            <a:off x="1666875" y="1897856"/>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hartmanadvisors.com</a:t>
            </a:r>
            <a:endParaRPr/>
          </a:p>
        </p:txBody>
      </p:sp>
      <p:pic>
        <p:nvPicPr>
          <p:cNvPr descr="image.png" id="581" name="Google Shape;581;p45"/>
          <p:cNvPicPr preferRelativeResize="0"/>
          <p:nvPr/>
        </p:nvPicPr>
        <p:blipFill rotWithShape="1">
          <a:blip r:embed="rId5">
            <a:alphaModFix/>
          </a:blip>
          <a:srcRect b="0" l="0" r="0" t="0"/>
          <a:stretch/>
        </p:blipFill>
        <p:spPr>
          <a:xfrm>
            <a:off x="571500" y="2514600"/>
            <a:ext cx="857250" cy="476250"/>
          </a:xfrm>
          <a:prstGeom prst="rect">
            <a:avLst/>
          </a:prstGeom>
          <a:noFill/>
          <a:ln>
            <a:noFill/>
          </a:ln>
        </p:spPr>
      </p:pic>
      <p:sp>
        <p:nvSpPr>
          <p:cNvPr id="582" name="Google Shape;582;p45"/>
          <p:cNvSpPr txBox="1"/>
          <p:nvPr/>
        </p:nvSpPr>
        <p:spPr>
          <a:xfrm>
            <a:off x="1666875" y="2428875"/>
            <a:ext cx="9953625" cy="371475"/>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https://media.istockphoto.com/id/1499491353/photo/hands-of-robot-and-human-touching-together-through-computer-monitor-screen-in-dark-background.jpg?s=612x612&amp;w=0&amp;k=20&amp;c=WLGTTqa-VEJzuEjKKmCEDj6RmReCHuzaGInWhas2e0k=</a:t>
            </a:r>
            <a:endParaRPr/>
          </a:p>
        </p:txBody>
      </p:sp>
      <p:sp>
        <p:nvSpPr>
          <p:cNvPr id="583" name="Google Shape;583;p45"/>
          <p:cNvSpPr txBox="1"/>
          <p:nvPr/>
        </p:nvSpPr>
        <p:spPr>
          <a:xfrm>
            <a:off x="1666875" y="2847975"/>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www.istockphoto.com</a:t>
            </a:r>
            <a:endParaRPr/>
          </a:p>
        </p:txBody>
      </p:sp>
      <p:pic>
        <p:nvPicPr>
          <p:cNvPr descr="image.png" id="584" name="Google Shape;584;p45"/>
          <p:cNvPicPr preferRelativeResize="0"/>
          <p:nvPr/>
        </p:nvPicPr>
        <p:blipFill rotWithShape="1">
          <a:blip r:embed="rId6">
            <a:alphaModFix/>
          </a:blip>
          <a:srcRect b="0" l="0" r="0" t="0"/>
          <a:stretch/>
        </p:blipFill>
        <p:spPr>
          <a:xfrm>
            <a:off x="571500" y="3371850"/>
            <a:ext cx="1771650" cy="514350"/>
          </a:xfrm>
          <a:prstGeom prst="rect">
            <a:avLst/>
          </a:prstGeom>
          <a:noFill/>
          <a:ln>
            <a:noFill/>
          </a:ln>
        </p:spPr>
      </p:pic>
      <p:sp>
        <p:nvSpPr>
          <p:cNvPr id="585" name="Google Shape;585;p45"/>
          <p:cNvSpPr txBox="1"/>
          <p:nvPr/>
        </p:nvSpPr>
        <p:spPr>
          <a:xfrm>
            <a:off x="1666875" y="3378993"/>
            <a:ext cx="99536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https://www.couchbase.com/blog/wp-content/uploads/sites/5/2026/05/Couchbase-Mobile-Overview-1.png</a:t>
            </a:r>
            <a:endParaRPr/>
          </a:p>
        </p:txBody>
      </p:sp>
      <p:sp>
        <p:nvSpPr>
          <p:cNvPr id="586" name="Google Shape;586;p45"/>
          <p:cNvSpPr txBox="1"/>
          <p:nvPr/>
        </p:nvSpPr>
        <p:spPr>
          <a:xfrm>
            <a:off x="1666875" y="3612356"/>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www.couchbase.com</a:t>
            </a:r>
            <a:endParaRPr/>
          </a:p>
        </p:txBody>
      </p:sp>
      <p:pic>
        <p:nvPicPr>
          <p:cNvPr descr="image.png" id="587" name="Google Shape;587;p45"/>
          <p:cNvPicPr preferRelativeResize="0"/>
          <p:nvPr/>
        </p:nvPicPr>
        <p:blipFill rotWithShape="1">
          <a:blip r:embed="rId7">
            <a:alphaModFix/>
          </a:blip>
          <a:srcRect b="0" l="0" r="0" t="0"/>
          <a:stretch/>
        </p:blipFill>
        <p:spPr>
          <a:xfrm>
            <a:off x="571500" y="4143375"/>
            <a:ext cx="857250" cy="476250"/>
          </a:xfrm>
          <a:prstGeom prst="rect">
            <a:avLst/>
          </a:prstGeom>
          <a:noFill/>
          <a:ln>
            <a:noFill/>
          </a:ln>
        </p:spPr>
      </p:pic>
      <p:sp>
        <p:nvSpPr>
          <p:cNvPr id="588" name="Google Shape;588;p45"/>
          <p:cNvSpPr txBox="1"/>
          <p:nvPr/>
        </p:nvSpPr>
        <p:spPr>
          <a:xfrm>
            <a:off x="1666875" y="4150518"/>
            <a:ext cx="99536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https://www.plex-tuning.com/wp-content/uploads/2024/04/PLEX_uSDM-200_WS_TOP_FRONT_HOR_RACE_2.jpeg</a:t>
            </a:r>
            <a:endParaRPr/>
          </a:p>
        </p:txBody>
      </p:sp>
      <p:sp>
        <p:nvSpPr>
          <p:cNvPr id="589" name="Google Shape;589;p45"/>
          <p:cNvSpPr txBox="1"/>
          <p:nvPr/>
        </p:nvSpPr>
        <p:spPr>
          <a:xfrm>
            <a:off x="1666875" y="4383881"/>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www.plex-tuning.com</a:t>
            </a:r>
            <a:endParaRPr/>
          </a:p>
        </p:txBody>
      </p:sp>
      <p:pic>
        <p:nvPicPr>
          <p:cNvPr descr="image.png" id="590" name="Google Shape;590;p45"/>
          <p:cNvPicPr preferRelativeResize="0"/>
          <p:nvPr/>
        </p:nvPicPr>
        <p:blipFill rotWithShape="1">
          <a:blip r:embed="rId8">
            <a:alphaModFix/>
          </a:blip>
          <a:srcRect b="0" l="0" r="0" t="0"/>
          <a:stretch/>
        </p:blipFill>
        <p:spPr>
          <a:xfrm>
            <a:off x="571500" y="4914900"/>
            <a:ext cx="857250" cy="476250"/>
          </a:xfrm>
          <a:prstGeom prst="rect">
            <a:avLst/>
          </a:prstGeom>
          <a:noFill/>
          <a:ln>
            <a:noFill/>
          </a:ln>
        </p:spPr>
      </p:pic>
      <p:sp>
        <p:nvSpPr>
          <p:cNvPr id="591" name="Google Shape;591;p45"/>
          <p:cNvSpPr txBox="1"/>
          <p:nvPr/>
        </p:nvSpPr>
        <p:spPr>
          <a:xfrm>
            <a:off x="1666875" y="4922043"/>
            <a:ext cx="99536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https://lifesciencedaily.news/wp-content/uploads/2026/06/AI-Transparency-Gap-e1781177344282.jpg</a:t>
            </a:r>
            <a:endParaRPr/>
          </a:p>
        </p:txBody>
      </p:sp>
      <p:sp>
        <p:nvSpPr>
          <p:cNvPr id="592" name="Google Shape;592;p45"/>
          <p:cNvSpPr txBox="1"/>
          <p:nvPr/>
        </p:nvSpPr>
        <p:spPr>
          <a:xfrm>
            <a:off x="1666875" y="5155406"/>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lifesciencedaily.news</a:t>
            </a:r>
            <a:endParaRPr/>
          </a:p>
        </p:txBody>
      </p:sp>
      <p:pic>
        <p:nvPicPr>
          <p:cNvPr descr="image.png" id="593" name="Google Shape;593;p45"/>
          <p:cNvPicPr preferRelativeResize="0"/>
          <p:nvPr/>
        </p:nvPicPr>
        <p:blipFill rotWithShape="1">
          <a:blip r:embed="rId9">
            <a:alphaModFix/>
          </a:blip>
          <a:srcRect b="0" l="0" r="0" t="0"/>
          <a:stretch/>
        </p:blipFill>
        <p:spPr>
          <a:xfrm>
            <a:off x="571500" y="5686425"/>
            <a:ext cx="857250" cy="476250"/>
          </a:xfrm>
          <a:prstGeom prst="rect">
            <a:avLst/>
          </a:prstGeom>
          <a:noFill/>
          <a:ln>
            <a:noFill/>
          </a:ln>
        </p:spPr>
      </p:pic>
      <p:sp>
        <p:nvSpPr>
          <p:cNvPr id="594" name="Google Shape;594;p45"/>
          <p:cNvSpPr txBox="1"/>
          <p:nvPr/>
        </p:nvSpPr>
        <p:spPr>
          <a:xfrm>
            <a:off x="1666875" y="5693568"/>
            <a:ext cx="99536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https://png.pngtree.com/thumb_back/fh260/background/20250512/pngtree-a-close-up-view-of-network-graph-on-dark-background-featuring-image_17269365.jpg</a:t>
            </a:r>
            <a:endParaRPr/>
          </a:p>
        </p:txBody>
      </p:sp>
      <p:sp>
        <p:nvSpPr>
          <p:cNvPr id="595" name="Google Shape;595;p45"/>
          <p:cNvSpPr txBox="1"/>
          <p:nvPr/>
        </p:nvSpPr>
        <p:spPr>
          <a:xfrm>
            <a:off x="1666875" y="5926931"/>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pngtree.com</a:t>
            </a:r>
            <a:endParaRPr/>
          </a:p>
        </p:txBody>
      </p:sp>
      <p:sp>
        <p:nvSpPr>
          <p:cNvPr id="596" name="Google Shape;596;p45"/>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Image Sources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00" name="Shape 600"/>
        <p:cNvGrpSpPr/>
        <p:nvPr/>
      </p:nvGrpSpPr>
      <p:grpSpPr>
        <a:xfrm>
          <a:off x="0" y="0"/>
          <a:ext cx="0" cy="0"/>
          <a:chOff x="0" y="0"/>
          <a:chExt cx="0" cy="0"/>
        </a:xfrm>
      </p:grpSpPr>
      <p:pic>
        <p:nvPicPr>
          <p:cNvPr descr="image.png" id="601" name="Google Shape;601;p4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02" name="Google Shape;602;p46"/>
          <p:cNvSpPr/>
          <p:nvPr/>
        </p:nvSpPr>
        <p:spPr>
          <a:xfrm>
            <a:off x="571500" y="1514475"/>
            <a:ext cx="10963275"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3" name="Google Shape;603;p46"/>
          <p:cNvSpPr/>
          <p:nvPr/>
        </p:nvSpPr>
        <p:spPr>
          <a:xfrm>
            <a:off x="571500" y="2286000"/>
            <a:ext cx="10963275"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4" name="Google Shape;604;p46"/>
          <p:cNvSpPr/>
          <p:nvPr/>
        </p:nvSpPr>
        <p:spPr>
          <a:xfrm>
            <a:off x="571500" y="3057525"/>
            <a:ext cx="10963275"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5" name="Google Shape;605;p46"/>
          <p:cNvSpPr/>
          <p:nvPr/>
        </p:nvSpPr>
        <p:spPr>
          <a:xfrm>
            <a:off x="571500" y="3829050"/>
            <a:ext cx="10963275"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6" name="Google Shape;606;p46"/>
          <p:cNvSpPr/>
          <p:nvPr/>
        </p:nvSpPr>
        <p:spPr>
          <a:xfrm>
            <a:off x="571500" y="4600575"/>
            <a:ext cx="10963275"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7" name="Google Shape;607;p46"/>
          <p:cNvSpPr/>
          <p:nvPr/>
        </p:nvSpPr>
        <p:spPr>
          <a:xfrm>
            <a:off x="571500" y="2276475"/>
            <a:ext cx="109632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8" name="Google Shape;608;p46"/>
          <p:cNvSpPr/>
          <p:nvPr/>
        </p:nvSpPr>
        <p:spPr>
          <a:xfrm>
            <a:off x="571500" y="2276475"/>
            <a:ext cx="109632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9" name="Google Shape;609;p46"/>
          <p:cNvSpPr/>
          <p:nvPr/>
        </p:nvSpPr>
        <p:spPr>
          <a:xfrm>
            <a:off x="571500" y="3048000"/>
            <a:ext cx="109632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0" name="Google Shape;610;p46"/>
          <p:cNvSpPr/>
          <p:nvPr/>
        </p:nvSpPr>
        <p:spPr>
          <a:xfrm>
            <a:off x="571500" y="3048000"/>
            <a:ext cx="109632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1" name="Google Shape;611;p46"/>
          <p:cNvSpPr/>
          <p:nvPr/>
        </p:nvSpPr>
        <p:spPr>
          <a:xfrm>
            <a:off x="571500" y="3819525"/>
            <a:ext cx="109632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2" name="Google Shape;612;p46"/>
          <p:cNvSpPr/>
          <p:nvPr/>
        </p:nvSpPr>
        <p:spPr>
          <a:xfrm>
            <a:off x="571500" y="3819525"/>
            <a:ext cx="109632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3" name="Google Shape;613;p46"/>
          <p:cNvSpPr/>
          <p:nvPr/>
        </p:nvSpPr>
        <p:spPr>
          <a:xfrm>
            <a:off x="571500" y="4591050"/>
            <a:ext cx="109632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4" name="Google Shape;614;p46"/>
          <p:cNvSpPr/>
          <p:nvPr/>
        </p:nvSpPr>
        <p:spPr>
          <a:xfrm>
            <a:off x="571500" y="4591050"/>
            <a:ext cx="109632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5" name="Google Shape;615;p46"/>
          <p:cNvSpPr/>
          <p:nvPr/>
        </p:nvSpPr>
        <p:spPr>
          <a:xfrm>
            <a:off x="571500" y="5362575"/>
            <a:ext cx="109632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6" name="Google Shape;616;p46"/>
          <p:cNvSpPr/>
          <p:nvPr/>
        </p:nvSpPr>
        <p:spPr>
          <a:xfrm>
            <a:off x="571500" y="5362575"/>
            <a:ext cx="10963275"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617" name="Google Shape;617;p46"/>
          <p:cNvPicPr preferRelativeResize="0"/>
          <p:nvPr/>
        </p:nvPicPr>
        <p:blipFill rotWithShape="1">
          <a:blip r:embed="rId4">
            <a:alphaModFix/>
          </a:blip>
          <a:srcRect b="0" l="0" r="0" t="0"/>
          <a:stretch/>
        </p:blipFill>
        <p:spPr>
          <a:xfrm>
            <a:off x="571500" y="1657350"/>
            <a:ext cx="857250" cy="476250"/>
          </a:xfrm>
          <a:prstGeom prst="rect">
            <a:avLst/>
          </a:prstGeom>
          <a:noFill/>
          <a:ln>
            <a:noFill/>
          </a:ln>
        </p:spPr>
      </p:pic>
      <p:sp>
        <p:nvSpPr>
          <p:cNvPr id="618" name="Google Shape;618;p46"/>
          <p:cNvSpPr txBox="1"/>
          <p:nvPr/>
        </p:nvSpPr>
        <p:spPr>
          <a:xfrm>
            <a:off x="1666875" y="1664493"/>
            <a:ext cx="9867900"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https://www.evsint.com/wp-content/uploads/replace/671899eb873cbea18abe1c920004a40c.jpeg</a:t>
            </a:r>
            <a:endParaRPr/>
          </a:p>
        </p:txBody>
      </p:sp>
      <p:sp>
        <p:nvSpPr>
          <p:cNvPr id="619" name="Google Shape;619;p46"/>
          <p:cNvSpPr txBox="1"/>
          <p:nvPr/>
        </p:nvSpPr>
        <p:spPr>
          <a:xfrm>
            <a:off x="1666875" y="1897856"/>
            <a:ext cx="986790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www.evsint.com</a:t>
            </a:r>
            <a:endParaRPr/>
          </a:p>
        </p:txBody>
      </p:sp>
      <p:pic>
        <p:nvPicPr>
          <p:cNvPr descr="image.png" id="620" name="Google Shape;620;p46"/>
          <p:cNvPicPr preferRelativeResize="0"/>
          <p:nvPr/>
        </p:nvPicPr>
        <p:blipFill rotWithShape="1">
          <a:blip r:embed="rId5">
            <a:alphaModFix/>
          </a:blip>
          <a:srcRect b="0" l="0" r="0" t="0"/>
          <a:stretch/>
        </p:blipFill>
        <p:spPr>
          <a:xfrm>
            <a:off x="571500" y="2428875"/>
            <a:ext cx="857250" cy="476250"/>
          </a:xfrm>
          <a:prstGeom prst="rect">
            <a:avLst/>
          </a:prstGeom>
          <a:noFill/>
          <a:ln>
            <a:noFill/>
          </a:ln>
        </p:spPr>
      </p:pic>
      <p:sp>
        <p:nvSpPr>
          <p:cNvPr id="621" name="Google Shape;621;p46"/>
          <p:cNvSpPr txBox="1"/>
          <p:nvPr/>
        </p:nvSpPr>
        <p:spPr>
          <a:xfrm>
            <a:off x="1666875" y="2436018"/>
            <a:ext cx="9867900"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https://wp.sfdcdigital.com/en-us/wp-content/uploads/sites/4/2025/07/reinforcement-learning_c82129.jpeg?w=1024</a:t>
            </a:r>
            <a:endParaRPr/>
          </a:p>
        </p:txBody>
      </p:sp>
      <p:sp>
        <p:nvSpPr>
          <p:cNvPr id="622" name="Google Shape;622;p46"/>
          <p:cNvSpPr txBox="1"/>
          <p:nvPr/>
        </p:nvSpPr>
        <p:spPr>
          <a:xfrm>
            <a:off x="1666875" y="2669381"/>
            <a:ext cx="986790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www.salesforce.com</a:t>
            </a:r>
            <a:endParaRPr/>
          </a:p>
        </p:txBody>
      </p:sp>
      <p:pic>
        <p:nvPicPr>
          <p:cNvPr descr="image.png" id="623" name="Google Shape;623;p46"/>
          <p:cNvPicPr preferRelativeResize="0"/>
          <p:nvPr/>
        </p:nvPicPr>
        <p:blipFill rotWithShape="1">
          <a:blip r:embed="rId6">
            <a:alphaModFix/>
          </a:blip>
          <a:srcRect b="0" l="0" r="0" t="0"/>
          <a:stretch/>
        </p:blipFill>
        <p:spPr>
          <a:xfrm>
            <a:off x="571500" y="3200400"/>
            <a:ext cx="1171575" cy="1028700"/>
          </a:xfrm>
          <a:prstGeom prst="rect">
            <a:avLst/>
          </a:prstGeom>
          <a:noFill/>
          <a:ln>
            <a:noFill/>
          </a:ln>
        </p:spPr>
      </p:pic>
      <p:sp>
        <p:nvSpPr>
          <p:cNvPr id="624" name="Google Shape;624;p46"/>
          <p:cNvSpPr txBox="1"/>
          <p:nvPr/>
        </p:nvSpPr>
        <p:spPr>
          <a:xfrm>
            <a:off x="1666875" y="3207543"/>
            <a:ext cx="9867900"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https://www.pepperl-fuchs.com/_ipx/q_80/w_412/fsmedia/0393862a-0579-4fc6-860e-db3cc253dc1e/mam_upload/digital_twin_6237x3508_w1920_2x.webp?i=522664</a:t>
            </a:r>
            <a:endParaRPr/>
          </a:p>
        </p:txBody>
      </p:sp>
      <p:sp>
        <p:nvSpPr>
          <p:cNvPr id="625" name="Google Shape;625;p46"/>
          <p:cNvSpPr txBox="1"/>
          <p:nvPr/>
        </p:nvSpPr>
        <p:spPr>
          <a:xfrm>
            <a:off x="1666875" y="3440906"/>
            <a:ext cx="986790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www.pepperl-fuchs.com</a:t>
            </a:r>
            <a:endParaRPr/>
          </a:p>
        </p:txBody>
      </p:sp>
      <p:pic>
        <p:nvPicPr>
          <p:cNvPr descr="image.png" id="626" name="Google Shape;626;p46"/>
          <p:cNvPicPr preferRelativeResize="0"/>
          <p:nvPr/>
        </p:nvPicPr>
        <p:blipFill rotWithShape="1">
          <a:blip r:embed="rId7">
            <a:alphaModFix/>
          </a:blip>
          <a:srcRect b="0" l="0" r="0" t="0"/>
          <a:stretch/>
        </p:blipFill>
        <p:spPr>
          <a:xfrm>
            <a:off x="571500" y="3971925"/>
            <a:ext cx="857250" cy="476250"/>
          </a:xfrm>
          <a:prstGeom prst="rect">
            <a:avLst/>
          </a:prstGeom>
          <a:noFill/>
          <a:ln>
            <a:noFill/>
          </a:ln>
        </p:spPr>
      </p:pic>
      <p:sp>
        <p:nvSpPr>
          <p:cNvPr id="627" name="Google Shape;627;p46"/>
          <p:cNvSpPr txBox="1"/>
          <p:nvPr/>
        </p:nvSpPr>
        <p:spPr>
          <a:xfrm>
            <a:off x="1666875" y="3979068"/>
            <a:ext cx="9867900"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https://www.boldbi.com/wp-content/uploads/2025/12/financial-management-dashboard-v2.webp</a:t>
            </a:r>
            <a:endParaRPr/>
          </a:p>
        </p:txBody>
      </p:sp>
      <p:sp>
        <p:nvSpPr>
          <p:cNvPr id="628" name="Google Shape;628;p46"/>
          <p:cNvSpPr txBox="1"/>
          <p:nvPr/>
        </p:nvSpPr>
        <p:spPr>
          <a:xfrm>
            <a:off x="1666875" y="4212431"/>
            <a:ext cx="986790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www.boldbi.com</a:t>
            </a:r>
            <a:endParaRPr/>
          </a:p>
        </p:txBody>
      </p:sp>
      <p:pic>
        <p:nvPicPr>
          <p:cNvPr descr="image.png" id="629" name="Google Shape;629;p46"/>
          <p:cNvPicPr preferRelativeResize="0"/>
          <p:nvPr/>
        </p:nvPicPr>
        <p:blipFill rotWithShape="1">
          <a:blip r:embed="rId8">
            <a:alphaModFix/>
          </a:blip>
          <a:srcRect b="0" l="0" r="0" t="0"/>
          <a:stretch/>
        </p:blipFill>
        <p:spPr>
          <a:xfrm>
            <a:off x="571500" y="4743450"/>
            <a:ext cx="1981200" cy="514350"/>
          </a:xfrm>
          <a:prstGeom prst="rect">
            <a:avLst/>
          </a:prstGeom>
          <a:noFill/>
          <a:ln>
            <a:noFill/>
          </a:ln>
        </p:spPr>
      </p:pic>
      <p:sp>
        <p:nvSpPr>
          <p:cNvPr id="630" name="Google Shape;630;p46"/>
          <p:cNvSpPr txBox="1"/>
          <p:nvPr/>
        </p:nvSpPr>
        <p:spPr>
          <a:xfrm>
            <a:off x="1666875" y="4750593"/>
            <a:ext cx="9867900"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https://mikeshoppingroom.com/wp-content/uploads/2024/05/CNC-Gear-Hobbing-Machine-in-Operation.jpg</a:t>
            </a:r>
            <a:endParaRPr/>
          </a:p>
        </p:txBody>
      </p:sp>
      <p:sp>
        <p:nvSpPr>
          <p:cNvPr id="631" name="Google Shape;631;p46"/>
          <p:cNvSpPr txBox="1"/>
          <p:nvPr/>
        </p:nvSpPr>
        <p:spPr>
          <a:xfrm>
            <a:off x="1666875" y="4983956"/>
            <a:ext cx="986790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mikeshoppingroom.com</a:t>
            </a:r>
            <a:endParaRPr/>
          </a:p>
        </p:txBody>
      </p:sp>
      <p:pic>
        <p:nvPicPr>
          <p:cNvPr descr="image.png" id="632" name="Google Shape;632;p46"/>
          <p:cNvPicPr preferRelativeResize="0"/>
          <p:nvPr/>
        </p:nvPicPr>
        <p:blipFill rotWithShape="1">
          <a:blip r:embed="rId9">
            <a:alphaModFix/>
          </a:blip>
          <a:srcRect b="0" l="0" r="0" t="0"/>
          <a:stretch/>
        </p:blipFill>
        <p:spPr>
          <a:xfrm>
            <a:off x="571500" y="5514975"/>
            <a:ext cx="1171575" cy="771525"/>
          </a:xfrm>
          <a:prstGeom prst="rect">
            <a:avLst/>
          </a:prstGeom>
          <a:noFill/>
          <a:ln>
            <a:noFill/>
          </a:ln>
        </p:spPr>
      </p:pic>
      <p:sp>
        <p:nvSpPr>
          <p:cNvPr id="633" name="Google Shape;633;p46"/>
          <p:cNvSpPr txBox="1"/>
          <p:nvPr/>
        </p:nvSpPr>
        <p:spPr>
          <a:xfrm>
            <a:off x="1666875" y="5522118"/>
            <a:ext cx="9867900"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https://media-d.global.abb/is/image/abbc/abb-crs-safety-by-design:1x1-S</a:t>
            </a:r>
            <a:endParaRPr/>
          </a:p>
        </p:txBody>
      </p:sp>
      <p:sp>
        <p:nvSpPr>
          <p:cNvPr id="634" name="Google Shape;634;p46"/>
          <p:cNvSpPr txBox="1"/>
          <p:nvPr/>
        </p:nvSpPr>
        <p:spPr>
          <a:xfrm>
            <a:off x="1666875" y="5755481"/>
            <a:ext cx="986790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www.abb.com</a:t>
            </a:r>
            <a:endParaRPr/>
          </a:p>
        </p:txBody>
      </p:sp>
      <p:sp>
        <p:nvSpPr>
          <p:cNvPr id="635" name="Google Shape;635;p46"/>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Image Sources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39" name="Shape 639"/>
        <p:cNvGrpSpPr/>
        <p:nvPr/>
      </p:nvGrpSpPr>
      <p:grpSpPr>
        <a:xfrm>
          <a:off x="0" y="0"/>
          <a:ext cx="0" cy="0"/>
          <a:chOff x="0" y="0"/>
          <a:chExt cx="0" cy="0"/>
        </a:xfrm>
      </p:grpSpPr>
      <p:pic>
        <p:nvPicPr>
          <p:cNvPr descr="image.png" id="640" name="Google Shape;640;p4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41" name="Google Shape;641;p47"/>
          <p:cNvSpPr/>
          <p:nvPr/>
        </p:nvSpPr>
        <p:spPr>
          <a:xfrm>
            <a:off x="571500" y="1514475"/>
            <a:ext cx="11049000" cy="7715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2" name="Google Shape;642;p47"/>
          <p:cNvSpPr/>
          <p:nvPr/>
        </p:nvSpPr>
        <p:spPr>
          <a:xfrm>
            <a:off x="571500" y="2286000"/>
            <a:ext cx="11049000" cy="94297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3" name="Google Shape;643;p47"/>
          <p:cNvSpPr/>
          <p:nvPr/>
        </p:nvSpPr>
        <p:spPr>
          <a:xfrm>
            <a:off x="571500" y="3228975"/>
            <a:ext cx="11049000" cy="94297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4" name="Google Shape;644;p47"/>
          <p:cNvSpPr/>
          <p:nvPr/>
        </p:nvSpPr>
        <p:spPr>
          <a:xfrm>
            <a:off x="571500" y="227647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5" name="Google Shape;645;p47"/>
          <p:cNvSpPr/>
          <p:nvPr/>
        </p:nvSpPr>
        <p:spPr>
          <a:xfrm>
            <a:off x="571500" y="227647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47"/>
          <p:cNvSpPr/>
          <p:nvPr/>
        </p:nvSpPr>
        <p:spPr>
          <a:xfrm>
            <a:off x="571500" y="321945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7" name="Google Shape;647;p47"/>
          <p:cNvSpPr/>
          <p:nvPr/>
        </p:nvSpPr>
        <p:spPr>
          <a:xfrm>
            <a:off x="571500" y="3219450"/>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47"/>
          <p:cNvSpPr/>
          <p:nvPr/>
        </p:nvSpPr>
        <p:spPr>
          <a:xfrm>
            <a:off x="571500" y="416242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9" name="Google Shape;649;p47"/>
          <p:cNvSpPr/>
          <p:nvPr/>
        </p:nvSpPr>
        <p:spPr>
          <a:xfrm>
            <a:off x="571500" y="416242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650" name="Google Shape;650;p47"/>
          <p:cNvPicPr preferRelativeResize="0"/>
          <p:nvPr/>
        </p:nvPicPr>
        <p:blipFill rotWithShape="1">
          <a:blip r:embed="rId4">
            <a:alphaModFix/>
          </a:blip>
          <a:srcRect b="0" l="0" r="0" t="0"/>
          <a:stretch/>
        </p:blipFill>
        <p:spPr>
          <a:xfrm>
            <a:off x="571500" y="1657350"/>
            <a:ext cx="857250" cy="476250"/>
          </a:xfrm>
          <a:prstGeom prst="rect">
            <a:avLst/>
          </a:prstGeom>
          <a:noFill/>
          <a:ln>
            <a:noFill/>
          </a:ln>
        </p:spPr>
      </p:pic>
      <p:sp>
        <p:nvSpPr>
          <p:cNvPr id="651" name="Google Shape;651;p47"/>
          <p:cNvSpPr txBox="1"/>
          <p:nvPr/>
        </p:nvSpPr>
        <p:spPr>
          <a:xfrm>
            <a:off x="1666875" y="1664493"/>
            <a:ext cx="99536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https://robodk.com/blog/wp-content/uploads/2020/05/RobCo-SWAT_Automative-Industry-1024x576.png</a:t>
            </a:r>
            <a:endParaRPr/>
          </a:p>
        </p:txBody>
      </p:sp>
      <p:sp>
        <p:nvSpPr>
          <p:cNvPr id="652" name="Google Shape;652;p47"/>
          <p:cNvSpPr txBox="1"/>
          <p:nvPr/>
        </p:nvSpPr>
        <p:spPr>
          <a:xfrm>
            <a:off x="1666875" y="1897856"/>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robodk.com</a:t>
            </a:r>
            <a:endParaRPr/>
          </a:p>
        </p:txBody>
      </p:sp>
      <p:pic>
        <p:nvPicPr>
          <p:cNvPr descr="image.png" id="653" name="Google Shape;653;p47"/>
          <p:cNvPicPr preferRelativeResize="0"/>
          <p:nvPr/>
        </p:nvPicPr>
        <p:blipFill rotWithShape="1">
          <a:blip r:embed="rId5">
            <a:alphaModFix/>
          </a:blip>
          <a:srcRect b="0" l="0" r="0" t="0"/>
          <a:stretch/>
        </p:blipFill>
        <p:spPr>
          <a:xfrm>
            <a:off x="571500" y="2514600"/>
            <a:ext cx="857250" cy="476250"/>
          </a:xfrm>
          <a:prstGeom prst="rect">
            <a:avLst/>
          </a:prstGeom>
          <a:noFill/>
          <a:ln>
            <a:noFill/>
          </a:ln>
        </p:spPr>
      </p:pic>
      <p:sp>
        <p:nvSpPr>
          <p:cNvPr id="654" name="Google Shape;654;p47"/>
          <p:cNvSpPr txBox="1"/>
          <p:nvPr/>
        </p:nvSpPr>
        <p:spPr>
          <a:xfrm>
            <a:off x="1666875" y="2428875"/>
            <a:ext cx="9953625" cy="371475"/>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https://www.qualitymag.com/ext/resources/Issues/2025/06-June/Features/QM0625-FEAT-SoftwareMitutoyo_p1FT-GettyImages-2196611291.jpg?height=635&amp;t=1748627024&amp;width=1200</a:t>
            </a:r>
            <a:endParaRPr/>
          </a:p>
        </p:txBody>
      </p:sp>
      <p:sp>
        <p:nvSpPr>
          <p:cNvPr id="655" name="Google Shape;655;p47"/>
          <p:cNvSpPr txBox="1"/>
          <p:nvPr/>
        </p:nvSpPr>
        <p:spPr>
          <a:xfrm>
            <a:off x="1666875" y="2847975"/>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www.qualitymag.com</a:t>
            </a:r>
            <a:endParaRPr/>
          </a:p>
        </p:txBody>
      </p:sp>
      <p:pic>
        <p:nvPicPr>
          <p:cNvPr descr="image.png" id="656" name="Google Shape;656;p47"/>
          <p:cNvPicPr preferRelativeResize="0"/>
          <p:nvPr/>
        </p:nvPicPr>
        <p:blipFill rotWithShape="1">
          <a:blip r:embed="rId6">
            <a:alphaModFix/>
          </a:blip>
          <a:srcRect b="0" l="0" r="0" t="0"/>
          <a:stretch/>
        </p:blipFill>
        <p:spPr>
          <a:xfrm>
            <a:off x="571500" y="3457575"/>
            <a:ext cx="1676400" cy="514350"/>
          </a:xfrm>
          <a:prstGeom prst="rect">
            <a:avLst/>
          </a:prstGeom>
          <a:noFill/>
          <a:ln>
            <a:noFill/>
          </a:ln>
        </p:spPr>
      </p:pic>
      <p:sp>
        <p:nvSpPr>
          <p:cNvPr id="657" name="Google Shape;657;p47"/>
          <p:cNvSpPr txBox="1"/>
          <p:nvPr/>
        </p:nvSpPr>
        <p:spPr>
          <a:xfrm>
            <a:off x="1666875" y="3371850"/>
            <a:ext cx="9953625" cy="371475"/>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https://static.wixstatic.com/media/68ad1b_e9b601d30a75487f905592e730e58b0a~mv2.png/v1/fill/w_568,h_378,al_c,q_85,usm_0.66_1.00_0.01,enc_avif,quality_auto/68ad1b_e9b601d30a75487f905592e730e58b0a~mv2.png</a:t>
            </a:r>
            <a:endParaRPr/>
          </a:p>
        </p:txBody>
      </p:sp>
      <p:sp>
        <p:nvSpPr>
          <p:cNvPr id="658" name="Google Shape;658;p47"/>
          <p:cNvSpPr txBox="1"/>
          <p:nvPr/>
        </p:nvSpPr>
        <p:spPr>
          <a:xfrm>
            <a:off x="1666875" y="3790950"/>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www.prajitdatta.com</a:t>
            </a:r>
            <a:endParaRPr/>
          </a:p>
        </p:txBody>
      </p:sp>
      <p:pic>
        <p:nvPicPr>
          <p:cNvPr descr="image.png" id="659" name="Google Shape;659;p47"/>
          <p:cNvPicPr preferRelativeResize="0"/>
          <p:nvPr/>
        </p:nvPicPr>
        <p:blipFill rotWithShape="1">
          <a:blip r:embed="rId7">
            <a:alphaModFix/>
          </a:blip>
          <a:srcRect b="0" l="0" r="0" t="0"/>
          <a:stretch/>
        </p:blipFill>
        <p:spPr>
          <a:xfrm>
            <a:off x="571500" y="4400550"/>
            <a:ext cx="857250" cy="476250"/>
          </a:xfrm>
          <a:prstGeom prst="rect">
            <a:avLst/>
          </a:prstGeom>
          <a:noFill/>
          <a:ln>
            <a:noFill/>
          </a:ln>
        </p:spPr>
      </p:pic>
      <p:sp>
        <p:nvSpPr>
          <p:cNvPr id="660" name="Google Shape;660;p47"/>
          <p:cNvSpPr txBox="1"/>
          <p:nvPr/>
        </p:nvSpPr>
        <p:spPr>
          <a:xfrm>
            <a:off x="1666875" y="4314825"/>
            <a:ext cx="9953625" cy="371475"/>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86868B"/>
                </a:solidFill>
                <a:latin typeface="Inter"/>
                <a:ea typeface="Inter"/>
                <a:cs typeface="Inter"/>
                <a:sym typeface="Inter"/>
              </a:rPr>
              <a:t>https://www.apple.com/newsroom/images/2024/04/apple-vision-pro-brings-a-new-era-of-spatial-computing-to-business/tile/Apple-Vision-Pro-KLM-Engine-Shop-app-lp.jpg.landing-big_2x.jpg</a:t>
            </a:r>
            <a:endParaRPr/>
          </a:p>
        </p:txBody>
      </p:sp>
      <p:sp>
        <p:nvSpPr>
          <p:cNvPr id="661" name="Google Shape;661;p47"/>
          <p:cNvSpPr txBox="1"/>
          <p:nvPr/>
        </p:nvSpPr>
        <p:spPr>
          <a:xfrm>
            <a:off x="1666875" y="4733925"/>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86868B"/>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www.apple.com</a:t>
            </a:r>
            <a:endParaRPr/>
          </a:p>
        </p:txBody>
      </p:sp>
      <p:sp>
        <p:nvSpPr>
          <p:cNvPr id="662" name="Google Shape;662;p47"/>
          <p:cNvSpPr txBox="1"/>
          <p:nvPr/>
        </p:nvSpPr>
        <p:spPr>
          <a:xfrm>
            <a:off x="571500" y="571500"/>
            <a:ext cx="11601450"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F5F5F7"/>
                </a:solidFill>
                <a:latin typeface="Inter SemiBold"/>
                <a:ea typeface="Inter SemiBold"/>
                <a:cs typeface="Inter SemiBold"/>
                <a:sym typeface="Inter SemiBold"/>
              </a:rPr>
              <a:t>Image 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